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57" r:id="rId4"/>
    <p:sldId id="259" r:id="rId5"/>
    <p:sldId id="258" r:id="rId6"/>
    <p:sldId id="274" r:id="rId7"/>
    <p:sldId id="281" r:id="rId8"/>
    <p:sldId id="261" r:id="rId9"/>
    <p:sldId id="262" r:id="rId10"/>
    <p:sldId id="288" r:id="rId11"/>
    <p:sldId id="289" r:id="rId12"/>
    <p:sldId id="268" r:id="rId13"/>
    <p:sldId id="269" r:id="rId14"/>
    <p:sldId id="264" r:id="rId15"/>
    <p:sldId id="265" r:id="rId16"/>
    <p:sldId id="286" r:id="rId17"/>
    <p:sldId id="267" r:id="rId18"/>
    <p:sldId id="270" r:id="rId19"/>
    <p:sldId id="271" r:id="rId20"/>
    <p:sldId id="272" r:id="rId21"/>
    <p:sldId id="283" r:id="rId22"/>
    <p:sldId id="287" r:id="rId23"/>
    <p:sldId id="275" r:id="rId24"/>
    <p:sldId id="279" r:id="rId25"/>
    <p:sldId id="284" r:id="rId26"/>
    <p:sldId id="260" r:id="rId27"/>
    <p:sldId id="266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253" autoAdjust="0"/>
  </p:normalViewPr>
  <p:slideViewPr>
    <p:cSldViewPr snapToGrid="0">
      <p:cViewPr varScale="1">
        <p:scale>
          <a:sx n="52" d="100"/>
          <a:sy n="52" d="100"/>
        </p:scale>
        <p:origin x="1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Term IDF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Sheet1!$G$9:$G$48</c:f>
              <c:numCache>
                <c:formatCode>0%</c:formatCode>
                <c:ptCount val="40"/>
                <c:pt idx="0">
                  <c:v>2.5000000000000001E-2</c:v>
                </c:pt>
                <c:pt idx="1">
                  <c:v>0.05</c:v>
                </c:pt>
                <c:pt idx="2">
                  <c:v>7.4999999999999997E-2</c:v>
                </c:pt>
                <c:pt idx="3">
                  <c:v>0.1</c:v>
                </c:pt>
                <c:pt idx="4">
                  <c:v>0.125</c:v>
                </c:pt>
                <c:pt idx="5">
                  <c:v>0.15</c:v>
                </c:pt>
                <c:pt idx="6">
                  <c:v>0.17499999999999999</c:v>
                </c:pt>
                <c:pt idx="7">
                  <c:v>0.2</c:v>
                </c:pt>
                <c:pt idx="8">
                  <c:v>0.22500000000000001</c:v>
                </c:pt>
                <c:pt idx="9">
                  <c:v>0.25</c:v>
                </c:pt>
                <c:pt idx="10">
                  <c:v>0.27500000000000002</c:v>
                </c:pt>
                <c:pt idx="11">
                  <c:v>0.3</c:v>
                </c:pt>
                <c:pt idx="12">
                  <c:v>0.32500000000000001</c:v>
                </c:pt>
                <c:pt idx="13">
                  <c:v>0.35</c:v>
                </c:pt>
                <c:pt idx="14">
                  <c:v>0.375</c:v>
                </c:pt>
                <c:pt idx="15">
                  <c:v>0.4</c:v>
                </c:pt>
                <c:pt idx="16">
                  <c:v>0.42499999999999999</c:v>
                </c:pt>
                <c:pt idx="17">
                  <c:v>0.45</c:v>
                </c:pt>
                <c:pt idx="18">
                  <c:v>0.47499999999999998</c:v>
                </c:pt>
                <c:pt idx="19">
                  <c:v>0.5</c:v>
                </c:pt>
                <c:pt idx="20">
                  <c:v>0.52500000000000002</c:v>
                </c:pt>
                <c:pt idx="21">
                  <c:v>0.55000000000000004</c:v>
                </c:pt>
                <c:pt idx="22">
                  <c:v>0.57499999999999996</c:v>
                </c:pt>
                <c:pt idx="23">
                  <c:v>0.6</c:v>
                </c:pt>
                <c:pt idx="24">
                  <c:v>0.625</c:v>
                </c:pt>
                <c:pt idx="25">
                  <c:v>0.65</c:v>
                </c:pt>
                <c:pt idx="26">
                  <c:v>0.67500000000000004</c:v>
                </c:pt>
                <c:pt idx="27">
                  <c:v>0.7</c:v>
                </c:pt>
                <c:pt idx="28">
                  <c:v>0.72499999999999998</c:v>
                </c:pt>
                <c:pt idx="29">
                  <c:v>0.75</c:v>
                </c:pt>
                <c:pt idx="30">
                  <c:v>0.77500000000000002</c:v>
                </c:pt>
                <c:pt idx="31">
                  <c:v>0.8</c:v>
                </c:pt>
                <c:pt idx="32">
                  <c:v>0.82499999999999996</c:v>
                </c:pt>
                <c:pt idx="33">
                  <c:v>0.85</c:v>
                </c:pt>
                <c:pt idx="34">
                  <c:v>0.875</c:v>
                </c:pt>
                <c:pt idx="35">
                  <c:v>0.9</c:v>
                </c:pt>
                <c:pt idx="36">
                  <c:v>0.92500000000000004</c:v>
                </c:pt>
                <c:pt idx="37">
                  <c:v>0.95</c:v>
                </c:pt>
                <c:pt idx="38">
                  <c:v>0.97499999999999998</c:v>
                </c:pt>
                <c:pt idx="39">
                  <c:v>1</c:v>
                </c:pt>
              </c:numCache>
            </c:numRef>
          </c:xVal>
          <c:yVal>
            <c:numRef>
              <c:f>Sheet1!$H$9:$H$48</c:f>
              <c:numCache>
                <c:formatCode>General</c:formatCode>
                <c:ptCount val="40"/>
                <c:pt idx="0">
                  <c:v>3.6888794541139363</c:v>
                </c:pt>
                <c:pt idx="1">
                  <c:v>2.9957322735539909</c:v>
                </c:pt>
                <c:pt idx="2">
                  <c:v>2.5902671654458267</c:v>
                </c:pt>
                <c:pt idx="3">
                  <c:v>2.3025850929940459</c:v>
                </c:pt>
                <c:pt idx="4">
                  <c:v>2.0794415416798357</c:v>
                </c:pt>
                <c:pt idx="5">
                  <c:v>1.8971199848858813</c:v>
                </c:pt>
                <c:pt idx="6">
                  <c:v>1.742969305058623</c:v>
                </c:pt>
                <c:pt idx="7">
                  <c:v>1.6094379124341003</c:v>
                </c:pt>
                <c:pt idx="8">
                  <c:v>1.4916548767777169</c:v>
                </c:pt>
                <c:pt idx="9">
                  <c:v>1.3862943611198906</c:v>
                </c:pt>
                <c:pt idx="10">
                  <c:v>1.2909841813155658</c:v>
                </c:pt>
                <c:pt idx="11">
                  <c:v>1.2039728043259361</c:v>
                </c:pt>
                <c:pt idx="12">
                  <c:v>1.1239300966523995</c:v>
                </c:pt>
                <c:pt idx="13">
                  <c:v>1.0498221244986776</c:v>
                </c:pt>
                <c:pt idx="14">
                  <c:v>0.98082925301172619</c:v>
                </c:pt>
                <c:pt idx="15">
                  <c:v>0.91629073187415511</c:v>
                </c:pt>
                <c:pt idx="16">
                  <c:v>0.85566611005772031</c:v>
                </c:pt>
                <c:pt idx="17">
                  <c:v>0.79850769621777162</c:v>
                </c:pt>
                <c:pt idx="18">
                  <c:v>0.74444047494749577</c:v>
                </c:pt>
                <c:pt idx="19">
                  <c:v>0.69314718055994529</c:v>
                </c:pt>
                <c:pt idx="20">
                  <c:v>0.64435701639051324</c:v>
                </c:pt>
                <c:pt idx="21">
                  <c:v>0.59783700075562041</c:v>
                </c:pt>
                <c:pt idx="22">
                  <c:v>0.55338523818478658</c:v>
                </c:pt>
                <c:pt idx="23">
                  <c:v>0.51082562376599072</c:v>
                </c:pt>
                <c:pt idx="24">
                  <c:v>0.47000362924573563</c:v>
                </c:pt>
                <c:pt idx="25">
                  <c:v>0.43078291609245434</c:v>
                </c:pt>
                <c:pt idx="26">
                  <c:v>0.39304258810960718</c:v>
                </c:pt>
                <c:pt idx="27">
                  <c:v>0.35667494393873239</c:v>
                </c:pt>
                <c:pt idx="28">
                  <c:v>0.32158362412746233</c:v>
                </c:pt>
                <c:pt idx="29">
                  <c:v>0.28768207245178085</c:v>
                </c:pt>
                <c:pt idx="30">
                  <c:v>0.25489224962879004</c:v>
                </c:pt>
                <c:pt idx="31">
                  <c:v>0.22314355131420976</c:v>
                </c:pt>
                <c:pt idx="32">
                  <c:v>0.19237189264745611</c:v>
                </c:pt>
                <c:pt idx="33">
                  <c:v>0.16251892949777494</c:v>
                </c:pt>
                <c:pt idx="34">
                  <c:v>0.13353139262452257</c:v>
                </c:pt>
                <c:pt idx="35">
                  <c:v>0.10536051565782635</c:v>
                </c:pt>
                <c:pt idx="36">
                  <c:v>7.7961541469711917E-2</c:v>
                </c:pt>
                <c:pt idx="37">
                  <c:v>5.1293294387550481E-2</c:v>
                </c:pt>
                <c:pt idx="38">
                  <c:v>2.5317807984289786E-2</c:v>
                </c:pt>
                <c:pt idx="3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DBB-4AF4-ACFD-1F09AD10E1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7557616"/>
        <c:axId val="637555976"/>
      </c:scatterChart>
      <c:valAx>
        <c:axId val="63755761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of Documents Containing Term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7555976"/>
        <c:crosses val="autoZero"/>
        <c:crossBetween val="midCat"/>
      </c:valAx>
      <c:valAx>
        <c:axId val="637555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75576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F09BA-4CBB-4F46-A3C4-CC00FDB9733B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D035D-0650-49E9-AE5A-5200953C9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0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4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8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63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62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10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67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Log(1) = 0</a:t>
            </a:r>
          </a:p>
          <a:p>
            <a:r>
              <a:rPr lang="en-US" dirty="0"/>
              <a:t>Log(2) ~ 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D035D-0650-49E9-AE5A-5200953C9D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7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EF47-AE7D-4A2E-ACC2-2E6A07A7C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5030C-7AD3-4BA8-B617-8C5FECCDF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A1EA1-E520-4EC7-8E01-9B95569B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88409-DF64-40C8-8ABE-E296438F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B9E9-F70A-4CD6-BAAB-D96122B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2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263B-B169-49AC-94C4-E6ABC29D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3A704-0432-4A2A-B960-911E3B6E6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DF079-B347-41DB-B827-4102F15E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AE4B1-92CE-4D9C-A3CC-2A64CC85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84946-D22A-4E26-B62D-C048E5D6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93F3-E1C4-4A2D-9922-FB4281EC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E9F49-6333-4F5D-91DD-5C2CD1E0B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C0226-9A68-494A-AF7C-A9C4E22F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76DF9-48F7-49C7-821C-7A00D162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436B-9590-43E0-92F6-5EDCB208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97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C9DD-8821-4A8C-B9E3-99638677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DC0B-A076-4EF9-8461-37A0613AE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2A1F4-0B94-4A68-A603-A5AF69C90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9BB25-F277-400D-A6B4-F65A5E09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69BB9-ACB2-4252-9CC5-901CB278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07D4C-51A2-498C-B649-E9B41DCD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0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E612-A24A-494C-ABD0-700FCCC9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D6B3-FAC7-43FB-A0EA-0930CD7AE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BC50E-8908-42BA-8967-28E935ED9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CA0BC-33F0-486D-85C0-BBC4B8B21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0DBBC-C2A6-4A31-AEA8-43401E6E4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F32B8-A720-4DA9-8382-7F4FA492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4F7967-4A1D-423D-9C8D-2D39A9E0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6E670-F4F1-4AC3-87E8-125DD2E5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5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9617-0692-4F9D-AB3D-FD883C19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8B2F1-99AD-4E9B-A921-07D89103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485BD-8B09-4536-85AA-C72706D6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FC316-91D6-4402-A70F-BE02DC0F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2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2DCCF-D689-41B1-8227-4748BCA6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848ED-2084-4D29-A273-CE46F209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79285-4355-400C-A9A2-AE1DB99B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1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CD44-9299-4B09-A69F-65CDFB35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2E9D-C156-43A6-8AEC-5D7C9CD5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D5F4E-B8C6-4951-8D08-2766AF9E6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88E99-DF00-4086-9FF7-8A06FB0C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C13E7-D918-4C0F-B153-9722AFE5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F5488-A9F9-43B6-864F-34409DB3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91A9-B4E1-42D3-88D8-724FD2D0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6FFF1-B87C-44FA-A4F1-8BA4BF0A3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9A97D-7485-498E-9E79-E29B89662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4F396-2955-4159-B4B4-B9011DFF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08F23-BEA2-435D-B75B-1F983EB9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4B7F-701D-40A0-9AB6-F065BEE6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4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678C-55C9-4DA2-81A2-9D68A86F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F5E17-84EB-464C-B6D4-0BD15A3D4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E47A-A222-4E55-9425-1844B3C3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68560-F5C5-49A6-8A6E-EED0205C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A39F-785E-4A5C-AC68-0D287FA8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6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8FBBD-D4AC-4190-8361-6C44D9B8B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3775C-4DE2-4F6D-964B-B826F9BBB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A386-D3B5-4195-8841-25E83340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DF19B-E7A5-4CC6-AB0B-B5BFE9D4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54F00-4D03-47FC-9E94-7B253AAE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6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A4C06-01F1-4800-9937-501E7383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46161-FF32-42E4-AE71-13DCDD63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99EEF-D2EC-4DD5-BFB4-D2AF0E7CA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189CE-4441-4938-930B-C10548A85FA1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46292-3A49-4E5B-ABA2-1679828F1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B940-6916-481C-83CF-A33CCC97E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EC5B5-6FB3-45DE-990A-CF04E85F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7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0E2D-583A-45F8-ABEE-6CF603985A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28703-5D29-4CEE-9BE7-3136A8598C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Geoff Hulten</a:t>
            </a:r>
          </a:p>
        </p:txBody>
      </p:sp>
    </p:spTree>
    <p:extLst>
      <p:ext uri="{BB962C8B-B14F-4D97-AF65-F5344CB8AC3E}">
        <p14:creationId xmlns:p14="http://schemas.microsoft.com/office/powerpoint/2010/main" val="320682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E5FD-E089-4ECB-8724-0E3FCF85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1E05-E8A9-4ABA-A6CC-E3BF0759C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engineering overview</a:t>
            </a:r>
          </a:p>
          <a:p>
            <a:endParaRPr lang="en-US" dirty="0"/>
          </a:p>
          <a:p>
            <a:r>
              <a:rPr lang="en-US" dirty="0"/>
              <a:t>Common approaches to </a:t>
            </a:r>
            <a:r>
              <a:rPr lang="en-US" dirty="0" err="1"/>
              <a:t>featurizing</a:t>
            </a:r>
            <a:r>
              <a:rPr lang="en-US" dirty="0"/>
              <a:t> with text</a:t>
            </a:r>
          </a:p>
          <a:p>
            <a:endParaRPr lang="en-US" dirty="0"/>
          </a:p>
          <a:p>
            <a:r>
              <a:rPr lang="en-US" dirty="0"/>
              <a:t>Feature selection</a:t>
            </a:r>
          </a:p>
          <a:p>
            <a:endParaRPr lang="en-US" dirty="0"/>
          </a:p>
          <a:p>
            <a:r>
              <a:rPr lang="en-US" dirty="0"/>
              <a:t>Iterating and improving (and dealing with mistakes)</a:t>
            </a:r>
          </a:p>
        </p:txBody>
      </p:sp>
    </p:spTree>
    <p:extLst>
      <p:ext uri="{BB962C8B-B14F-4D97-AF65-F5344CB8AC3E}">
        <p14:creationId xmlns:p14="http://schemas.microsoft.com/office/powerpoint/2010/main" val="174679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5EAB-C89F-48EB-AAA1-2AB44173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B483-1187-4FCF-BCEA-5F001AA6C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‘context’ -&gt; input to learning algorithm.</a:t>
            </a:r>
          </a:p>
          <a:p>
            <a:endParaRPr lang="en-US" dirty="0"/>
          </a:p>
          <a:p>
            <a:r>
              <a:rPr lang="en-US" dirty="0"/>
              <a:t>Expose the structure of the concept to the learning algorithm.</a:t>
            </a:r>
          </a:p>
          <a:p>
            <a:endParaRPr lang="en-US" dirty="0"/>
          </a:p>
          <a:p>
            <a:r>
              <a:rPr lang="en-US" dirty="0"/>
              <a:t>Work well with the structure of the model the algorithm will create.</a:t>
            </a:r>
          </a:p>
          <a:p>
            <a:endParaRPr lang="en-US" dirty="0"/>
          </a:p>
          <a:p>
            <a:r>
              <a:rPr lang="en-US" dirty="0"/>
              <a:t>Balance number of features, complexity of concept, complexity of model, amount of data.</a:t>
            </a:r>
          </a:p>
        </p:txBody>
      </p:sp>
    </p:spTree>
    <p:extLst>
      <p:ext uri="{BB962C8B-B14F-4D97-AF65-F5344CB8AC3E}">
        <p14:creationId xmlns:p14="http://schemas.microsoft.com/office/powerpoint/2010/main" val="30062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FECE-7966-499B-ACF5-0CB4AA11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from SMS 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3A82-B22E-4AB4-9E9C-E42C2C54D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77" y="1690688"/>
            <a:ext cx="11037711" cy="4351338"/>
          </a:xfrm>
        </p:spPr>
        <p:txBody>
          <a:bodyPr>
            <a:normAutofit/>
          </a:bodyPr>
          <a:lstStyle/>
          <a:p>
            <a:r>
              <a:rPr lang="en-US" dirty="0"/>
              <a:t>SMS Message (arbitrary text) -&gt; 5 dimensional array of binary features</a:t>
            </a:r>
          </a:p>
          <a:p>
            <a:endParaRPr lang="en-US" sz="1600" dirty="0"/>
          </a:p>
          <a:p>
            <a:r>
              <a:rPr lang="en-US" sz="1600" dirty="0"/>
              <a:t>1 if message is longer than 40 chars, 0 otherwise</a:t>
            </a:r>
          </a:p>
          <a:p>
            <a:r>
              <a:rPr lang="en-US" sz="1600" dirty="0"/>
              <a:t>1 if message contains a digit, 0 otherwise</a:t>
            </a:r>
          </a:p>
          <a:p>
            <a:r>
              <a:rPr lang="en-US" sz="1600" dirty="0"/>
              <a:t>1 if message contains word ‘call’, 0 otherwise</a:t>
            </a:r>
          </a:p>
          <a:p>
            <a:r>
              <a:rPr lang="en-US" sz="1600" dirty="0"/>
              <a:t>1 if message contains word ‘to’, 0 otherwise</a:t>
            </a:r>
          </a:p>
          <a:p>
            <a:r>
              <a:rPr lang="en-US" sz="1600" dirty="0"/>
              <a:t>1 if message contains word ‘your’, 0 otherwise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9428FC-20DB-4A91-A7F1-BD483D81D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174017"/>
              </p:ext>
            </p:extLst>
          </p:nvPr>
        </p:nvGraphicFramePr>
        <p:xfrm>
          <a:off x="2032000" y="5875020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142334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2941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032492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831691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91219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Long?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HasDigit</a:t>
                      </a:r>
                      <a:r>
                        <a:rPr lang="en-US" sz="1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ContainsWord</a:t>
                      </a:r>
                      <a:r>
                        <a:rPr lang="en-US" sz="1200" dirty="0"/>
                        <a:t>(Call)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ContainsWord</a:t>
                      </a:r>
                      <a:r>
                        <a:rPr lang="en-US" sz="1200" dirty="0"/>
                        <a:t>(to)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ContainsWord</a:t>
                      </a:r>
                      <a:r>
                        <a:rPr lang="en-US" sz="1200" dirty="0"/>
                        <a:t>(your)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3469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D48645-E5F8-4544-AC78-D0BFD2DEA922}"/>
              </a:ext>
            </a:extLst>
          </p:cNvPr>
          <p:cNvSpPr txBox="1"/>
          <p:nvPr/>
        </p:nvSpPr>
        <p:spPr>
          <a:xfrm>
            <a:off x="485422" y="4741333"/>
            <a:ext cx="11037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“SIX chances to win CASH! From 100 to 20,000 pounds txt&gt; CSH11 and send to 87575. Cost 150p/day, 6days, 16+ </a:t>
            </a:r>
            <a:r>
              <a:rPr lang="en-US" dirty="0" err="1"/>
              <a:t>TsandCs</a:t>
            </a:r>
            <a:r>
              <a:rPr lang="en-US" dirty="0"/>
              <a:t> apply Reply HL 4 info”</a:t>
            </a:r>
          </a:p>
        </p:txBody>
      </p:sp>
    </p:spTree>
    <p:extLst>
      <p:ext uri="{BB962C8B-B14F-4D97-AF65-F5344CB8AC3E}">
        <p14:creationId xmlns:p14="http://schemas.microsoft.com/office/powerpoint/2010/main" val="71597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A5E2-09DE-4655-B450-E5A5F3FB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Feature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2CD0A5-E022-42DD-8467-AACF9EE39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443" y="1690687"/>
            <a:ext cx="2892972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Binary Features</a:t>
            </a:r>
          </a:p>
          <a:p>
            <a:pPr lvl="1"/>
            <a:endParaRPr lang="en-US" dirty="0"/>
          </a:p>
          <a:p>
            <a:r>
              <a:rPr lang="en-US" sz="1800" dirty="0" err="1"/>
              <a:t>ContainsWord</a:t>
            </a:r>
            <a:r>
              <a:rPr lang="en-US" sz="1800" dirty="0"/>
              <a:t>(call)?</a:t>
            </a:r>
          </a:p>
          <a:p>
            <a:endParaRPr lang="en-US" sz="1800" dirty="0"/>
          </a:p>
          <a:p>
            <a:r>
              <a:rPr lang="en-US" sz="1800" dirty="0" err="1"/>
              <a:t>IsLongSMSMessage</a:t>
            </a:r>
            <a:r>
              <a:rPr lang="en-US" sz="1800" dirty="0"/>
              <a:t>?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Contains(*#)?</a:t>
            </a:r>
          </a:p>
          <a:p>
            <a:endParaRPr lang="en-US" sz="1800" dirty="0"/>
          </a:p>
          <a:p>
            <a:r>
              <a:rPr lang="en-US" sz="1800" dirty="0" err="1"/>
              <a:t>ContainsPunctuation</a:t>
            </a:r>
            <a:r>
              <a:rPr lang="en-US" sz="1800" dirty="0"/>
              <a:t>?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B4441B-F54D-4FDA-A40E-E277FB0400E2}"/>
              </a:ext>
            </a:extLst>
          </p:cNvPr>
          <p:cNvSpPr txBox="1">
            <a:spLocks/>
          </p:cNvSpPr>
          <p:nvPr/>
        </p:nvSpPr>
        <p:spPr>
          <a:xfrm>
            <a:off x="8573718" y="1690687"/>
            <a:ext cx="289297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Numeric Features</a:t>
            </a:r>
            <a:br>
              <a:rPr lang="en-US" dirty="0"/>
            </a:br>
            <a:endParaRPr lang="en-US" dirty="0"/>
          </a:p>
          <a:p>
            <a:r>
              <a:rPr lang="en-US" sz="1800" dirty="0" err="1"/>
              <a:t>CountOfWord</a:t>
            </a:r>
            <a:r>
              <a:rPr lang="en-US" sz="1800" dirty="0"/>
              <a:t>(call)</a:t>
            </a:r>
          </a:p>
          <a:p>
            <a:endParaRPr lang="en-US" sz="1800" dirty="0"/>
          </a:p>
          <a:p>
            <a:r>
              <a:rPr lang="en-US" sz="1800" dirty="0" err="1"/>
              <a:t>MessageLength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FirstNumberInMessage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WritingGradeLevel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EAEBBC6-402B-4DC1-A127-48126C1B35C8}"/>
              </a:ext>
            </a:extLst>
          </p:cNvPr>
          <p:cNvSpPr txBox="1">
            <a:spLocks/>
          </p:cNvSpPr>
          <p:nvPr/>
        </p:nvSpPr>
        <p:spPr>
          <a:xfrm>
            <a:off x="4018844" y="1690688"/>
            <a:ext cx="4165600" cy="44263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00" dirty="0"/>
              <a:t>Categorical Features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r>
              <a:rPr lang="en-US" sz="2300" dirty="0" err="1"/>
              <a:t>FirstWordPOS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Verb, Noun, Other }</a:t>
            </a:r>
          </a:p>
          <a:p>
            <a:pPr marL="457200" lvl="1" indent="0">
              <a:buNone/>
            </a:pPr>
            <a:endParaRPr lang="en-US" sz="2300" dirty="0"/>
          </a:p>
          <a:p>
            <a:r>
              <a:rPr lang="en-US" sz="2300" dirty="0" err="1"/>
              <a:t>MessageLength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Short, Medium, Long, </a:t>
            </a:r>
            <a:r>
              <a:rPr lang="en-US" sz="2300" dirty="0" err="1"/>
              <a:t>VeryLong</a:t>
            </a:r>
            <a:r>
              <a:rPr lang="en-US" sz="2300" dirty="0"/>
              <a:t> }</a:t>
            </a:r>
          </a:p>
          <a:p>
            <a:pPr marL="457200" lvl="1" indent="0">
              <a:buNone/>
            </a:pPr>
            <a:endParaRPr lang="en-US" sz="2300" dirty="0"/>
          </a:p>
          <a:p>
            <a:r>
              <a:rPr lang="en-US" sz="2300" dirty="0" err="1"/>
              <a:t>TokenType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Number, URL, Word, Phone#, Unknown }</a:t>
            </a:r>
          </a:p>
          <a:p>
            <a:endParaRPr lang="en-US" sz="2300" dirty="0"/>
          </a:p>
          <a:p>
            <a:r>
              <a:rPr lang="en-US" sz="2300" dirty="0" err="1"/>
              <a:t>GrammarAnalysis</a:t>
            </a:r>
            <a:r>
              <a:rPr lang="en-US" sz="2300" dirty="0"/>
              <a:t> -&gt;</a:t>
            </a:r>
          </a:p>
          <a:p>
            <a:pPr lvl="1"/>
            <a:r>
              <a:rPr lang="en-US" sz="2300" dirty="0"/>
              <a:t>{ Fragment, </a:t>
            </a:r>
            <a:r>
              <a:rPr lang="en-US" sz="2300" dirty="0" err="1"/>
              <a:t>SimpleSentence</a:t>
            </a:r>
            <a:r>
              <a:rPr lang="en-US" sz="2300" dirty="0"/>
              <a:t>, </a:t>
            </a:r>
            <a:r>
              <a:rPr lang="en-US" sz="2300" dirty="0" err="1"/>
              <a:t>ComplexSentence</a:t>
            </a:r>
            <a:r>
              <a:rPr lang="en-US" sz="23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6029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FB6E-E6A1-4CC0-BC36-6128A754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024" y="365125"/>
            <a:ext cx="10515600" cy="1325563"/>
          </a:xfrm>
        </p:spPr>
        <p:txBody>
          <a:bodyPr/>
          <a:lstStyle/>
          <a:p>
            <a:r>
              <a:rPr lang="en-US" dirty="0"/>
              <a:t>Converting Between Feature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59AEA-3ABC-471C-9AD2-8C0BBDF1E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894"/>
            <a:ext cx="10515600" cy="5366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Numeric Feature =&gt; Binary Feature</a:t>
            </a:r>
          </a:p>
          <a:p>
            <a:pPr marL="457200" lvl="1" indent="0">
              <a:buNone/>
            </a:pPr>
            <a:r>
              <a:rPr lang="en-US" dirty="0"/>
              <a:t>Length of text + [ 40 ] =&gt; { 0, 1 }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Numeric Feature =&gt; Categorical Feature</a:t>
            </a:r>
          </a:p>
          <a:p>
            <a:pPr marL="457200" lvl="1" indent="0">
              <a:buNone/>
            </a:pPr>
            <a:r>
              <a:rPr lang="en-US" dirty="0"/>
              <a:t>Length of text + [ 20, 40 ] =&gt; { short or medium or long }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Categorical Feature =&gt; Binary Features</a:t>
            </a:r>
          </a:p>
          <a:p>
            <a:pPr marL="457200" lvl="1" indent="0">
              <a:buNone/>
            </a:pPr>
            <a:r>
              <a:rPr lang="en-US" dirty="0"/>
              <a:t>{ short or medium or long } =&gt; [ 1, 0, 0] or [ 0, 1, 0] or [0, 0, 1]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Binary Feature =&gt; Numeric Feature</a:t>
            </a:r>
          </a:p>
          <a:p>
            <a:pPr marL="457200" lvl="1" indent="0">
              <a:buNone/>
            </a:pPr>
            <a:r>
              <a:rPr lang="en-US" dirty="0"/>
              <a:t>{ 0, 1 } =&gt; { 0, 1 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27964-8AEC-4B43-9F06-85E6A516E64C}"/>
              </a:ext>
            </a:extLst>
          </p:cNvPr>
          <p:cNvSpPr/>
          <p:nvPr/>
        </p:nvSpPr>
        <p:spPr>
          <a:xfrm>
            <a:off x="9134724" y="1365200"/>
            <a:ext cx="2262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Single threshold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84170-EA1E-447F-99AD-687A3DDAC177}"/>
              </a:ext>
            </a:extLst>
          </p:cNvPr>
          <p:cNvSpPr/>
          <p:nvPr/>
        </p:nvSpPr>
        <p:spPr>
          <a:xfrm>
            <a:off x="9187189" y="2711156"/>
            <a:ext cx="2362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Set of thresholds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3A0AE6-06CC-40C9-9F78-ABDCC4D2E0F2}"/>
              </a:ext>
            </a:extLst>
          </p:cNvPr>
          <p:cNvSpPr/>
          <p:nvPr/>
        </p:nvSpPr>
        <p:spPr>
          <a:xfrm>
            <a:off x="9134724" y="4002692"/>
            <a:ext cx="24375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One-hot encoding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B2DC21-D544-402E-B14D-1AD3BBD78186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318354" y="1596032"/>
            <a:ext cx="281637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ED08EC-24F3-4F61-BEB1-FD508095F44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790544" y="2941988"/>
            <a:ext cx="2396645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C50934-D4E5-4B21-A165-EC63D3F81BB7}"/>
              </a:ext>
            </a:extLst>
          </p:cNvPr>
          <p:cNvCxnSpPr>
            <a:cxnSpLocks/>
          </p:cNvCxnSpPr>
          <p:nvPr/>
        </p:nvCxnSpPr>
        <p:spPr>
          <a:xfrm flipH="1" flipV="1">
            <a:off x="6738079" y="4233523"/>
            <a:ext cx="2396645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EDA7D-1B00-4349-AB48-1B7E3F81CC2B}"/>
              </a:ext>
            </a:extLst>
          </p:cNvPr>
          <p:cNvSpPr/>
          <p:nvPr/>
        </p:nvSpPr>
        <p:spPr>
          <a:xfrm>
            <a:off x="9187189" y="5238273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D53540-BA28-4BFC-968E-A88ED1167803}"/>
              </a:ext>
            </a:extLst>
          </p:cNvPr>
          <p:cNvCxnSpPr>
            <a:cxnSpLocks/>
          </p:cNvCxnSpPr>
          <p:nvPr/>
        </p:nvCxnSpPr>
        <p:spPr>
          <a:xfrm flipH="1" flipV="1">
            <a:off x="6790544" y="5469104"/>
            <a:ext cx="2396645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17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DF69-A48D-4080-87D2-18905172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Data for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6819A-5BAE-46EE-894A-EE757444BD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System State</a:t>
            </a:r>
          </a:p>
          <a:p>
            <a:pPr lvl="1"/>
            <a:r>
              <a:rPr lang="en-US" dirty="0"/>
              <a:t>App in foreground?</a:t>
            </a:r>
          </a:p>
          <a:p>
            <a:pPr lvl="1"/>
            <a:r>
              <a:rPr lang="en-US" dirty="0"/>
              <a:t>Roaming?</a:t>
            </a:r>
          </a:p>
          <a:p>
            <a:pPr lvl="1"/>
            <a:r>
              <a:rPr lang="en-US" dirty="0"/>
              <a:t>Sensor readings</a:t>
            </a:r>
          </a:p>
          <a:p>
            <a:endParaRPr lang="en-US" dirty="0"/>
          </a:p>
          <a:p>
            <a:r>
              <a:rPr lang="en-US" dirty="0"/>
              <a:t>Content Analysis</a:t>
            </a:r>
          </a:p>
          <a:p>
            <a:pPr lvl="1"/>
            <a:r>
              <a:rPr lang="en-US" dirty="0"/>
              <a:t>Stuff we’ve been talking about</a:t>
            </a:r>
          </a:p>
          <a:p>
            <a:pPr lvl="1"/>
            <a:r>
              <a:rPr lang="en-US" dirty="0"/>
              <a:t>Stuff we’re going to talk about next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User Information</a:t>
            </a:r>
          </a:p>
          <a:p>
            <a:pPr lvl="1"/>
            <a:r>
              <a:rPr lang="en-US" dirty="0"/>
              <a:t>Industry</a:t>
            </a:r>
          </a:p>
          <a:p>
            <a:pPr lvl="1"/>
            <a:r>
              <a:rPr lang="en-US" dirty="0"/>
              <a:t>Demographics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FC9FA-03A4-4B90-8C62-7D9BF3A237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Interaction History</a:t>
            </a:r>
          </a:p>
          <a:p>
            <a:pPr lvl="1"/>
            <a:r>
              <a:rPr lang="en-US" dirty="0"/>
              <a:t>User’s ‘report as junk’ rate</a:t>
            </a:r>
          </a:p>
          <a:p>
            <a:pPr lvl="1"/>
            <a:r>
              <a:rPr lang="en-US" dirty="0"/>
              <a:t># previous interactions with sender</a:t>
            </a:r>
          </a:p>
          <a:p>
            <a:pPr lvl="1"/>
            <a:r>
              <a:rPr lang="en-US" dirty="0"/>
              <a:t># messages sent/received</a:t>
            </a:r>
          </a:p>
          <a:p>
            <a:endParaRPr lang="en-US" dirty="0"/>
          </a:p>
          <a:p>
            <a:r>
              <a:rPr lang="en-US" dirty="0"/>
              <a:t>Metadata</a:t>
            </a:r>
          </a:p>
          <a:p>
            <a:pPr lvl="1"/>
            <a:r>
              <a:rPr lang="en-US" dirty="0"/>
              <a:t>Properties of phone #s referenced</a:t>
            </a:r>
          </a:p>
          <a:p>
            <a:pPr lvl="1"/>
            <a:r>
              <a:rPr lang="en-US" dirty="0"/>
              <a:t>Properties of the sender</a:t>
            </a:r>
          </a:p>
          <a:p>
            <a:pPr lvl="1"/>
            <a:r>
              <a:rPr lang="en-US" dirty="0"/>
              <a:t>Run other models on the content</a:t>
            </a:r>
          </a:p>
          <a:p>
            <a:pPr lvl="2"/>
            <a:r>
              <a:rPr lang="en-US" dirty="0"/>
              <a:t>Grammar</a:t>
            </a:r>
          </a:p>
          <a:p>
            <a:pPr lvl="2"/>
            <a:r>
              <a:rPr lang="en-US" dirty="0"/>
              <a:t>Language</a:t>
            </a:r>
          </a:p>
          <a:p>
            <a:pPr lvl="2"/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6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F5D4-8881-4695-8EB2-73B06031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for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2E4D7-003B-40F6-8D87-C0A0876F17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Tokenizing</a:t>
            </a:r>
          </a:p>
          <a:p>
            <a:endParaRPr lang="en-US" dirty="0"/>
          </a:p>
          <a:p>
            <a:r>
              <a:rPr lang="en-US" dirty="0"/>
              <a:t>Bag of Words</a:t>
            </a:r>
          </a:p>
          <a:p>
            <a:endParaRPr lang="en-US" dirty="0"/>
          </a:p>
          <a:p>
            <a:r>
              <a:rPr lang="en-US" dirty="0"/>
              <a:t>N-grams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CBEC0-78AB-4ACD-AE9E-42A028DAF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TF-IDF</a:t>
            </a:r>
          </a:p>
          <a:p>
            <a:endParaRPr lang="en-US" dirty="0"/>
          </a:p>
          <a:p>
            <a:r>
              <a:rPr lang="en-US" dirty="0"/>
              <a:t>Embeddings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NLP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2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184F-3DCB-4D5E-BE57-25FF0DDF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3D6AE-0FF0-4BA4-A955-45C7122609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Breaking text into words</a:t>
            </a:r>
          </a:p>
          <a:p>
            <a:pPr marL="457200" lvl="1" indent="0">
              <a:buNone/>
            </a:pPr>
            <a:r>
              <a:rPr lang="en-US" dirty="0"/>
              <a:t>“Nah, I don't think he goes to </a:t>
            </a:r>
            <a:r>
              <a:rPr lang="en-US" dirty="0" err="1"/>
              <a:t>usf</a:t>
            </a:r>
            <a:r>
              <a:rPr lang="en-US" dirty="0"/>
              <a:t>” -&gt; </a:t>
            </a:r>
          </a:p>
          <a:p>
            <a:pPr marL="457200" lvl="1" indent="0">
              <a:buNone/>
            </a:pPr>
            <a:r>
              <a:rPr lang="en-US" dirty="0"/>
              <a:t>	[ ‘Nah,’ ‘I’, ‘don't’, ‘think’, ‘he’, ‘goes’, ‘to’, ‘</a:t>
            </a:r>
            <a:r>
              <a:rPr lang="en-US" dirty="0" err="1"/>
              <a:t>usf</a:t>
            </a:r>
            <a:r>
              <a:rPr lang="en-US" dirty="0"/>
              <a:t>’ ]</a:t>
            </a:r>
          </a:p>
          <a:p>
            <a:endParaRPr lang="en-US" dirty="0"/>
          </a:p>
          <a:p>
            <a:r>
              <a:rPr lang="en-US" dirty="0"/>
              <a:t>Dealing with punctuation</a:t>
            </a:r>
          </a:p>
          <a:p>
            <a:pPr marL="457200" lvl="1" indent="0">
              <a:buNone/>
            </a:pPr>
            <a:r>
              <a:rPr lang="en-US" dirty="0"/>
              <a:t>“Nah,” -&gt; </a:t>
            </a:r>
          </a:p>
          <a:p>
            <a:pPr marL="457200" lvl="1" indent="0">
              <a:buNone/>
            </a:pPr>
            <a:r>
              <a:rPr lang="en-US" dirty="0"/>
              <a:t>	[ ‘Nah,’ ] or [ ‘Nah’, ‘,’ ] or [ ‘Nah’ ]</a:t>
            </a:r>
          </a:p>
          <a:p>
            <a:pPr marL="457200" lvl="1" indent="0">
              <a:buNone/>
            </a:pPr>
            <a:r>
              <a:rPr lang="en-US" dirty="0"/>
              <a:t>“don't” -&gt; </a:t>
            </a:r>
          </a:p>
          <a:p>
            <a:pPr marL="457200" lvl="1" indent="0">
              <a:buNone/>
            </a:pPr>
            <a:r>
              <a:rPr lang="en-US" dirty="0"/>
              <a:t>	[ ‘don't’ ] or [ ‘don’, ‘'’, ‘t’ ] or [ ‘don’, ‘t’ ] or [ ‘do’, ‘</a:t>
            </a:r>
            <a:r>
              <a:rPr lang="en-US" dirty="0" err="1"/>
              <a:t>n't</a:t>
            </a:r>
            <a:r>
              <a:rPr lang="en-US" dirty="0"/>
              <a:t>’ ]</a:t>
            </a:r>
          </a:p>
          <a:p>
            <a:endParaRPr lang="en-US" dirty="0"/>
          </a:p>
          <a:p>
            <a:r>
              <a:rPr lang="en-US" dirty="0"/>
              <a:t>Normalizing</a:t>
            </a:r>
          </a:p>
          <a:p>
            <a:pPr marL="457200" lvl="1" indent="0">
              <a:buNone/>
            </a:pPr>
            <a:r>
              <a:rPr lang="en-US" dirty="0"/>
              <a:t>“Nah,” -&gt; </a:t>
            </a:r>
          </a:p>
          <a:p>
            <a:pPr marL="914400" lvl="2" indent="0">
              <a:buNone/>
            </a:pPr>
            <a:r>
              <a:rPr lang="en-US" dirty="0"/>
              <a:t>[ ‘Nah,’ ] or [ ‘nah,’ ]</a:t>
            </a:r>
          </a:p>
          <a:p>
            <a:pPr marL="457200" lvl="1" indent="0">
              <a:buNone/>
            </a:pPr>
            <a:r>
              <a:rPr lang="en-US" dirty="0"/>
              <a:t>“1452” -&gt;</a:t>
            </a:r>
          </a:p>
          <a:p>
            <a:pPr marL="914400" lvl="2" indent="0">
              <a:buNone/>
            </a:pPr>
            <a:r>
              <a:rPr lang="en-US" dirty="0"/>
              <a:t>[ ‘1452’ ] or [ &lt;number&gt; 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62CC4-447F-42EB-AC26-D571623E3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9439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dirty="0"/>
              <a:t>Some tips for deciding</a:t>
            </a:r>
          </a:p>
          <a:p>
            <a:endParaRPr lang="en-US" dirty="0"/>
          </a:p>
          <a:p>
            <a:r>
              <a:rPr lang="en-US" dirty="0"/>
              <a:t>If you have lots of data / optimization…</a:t>
            </a:r>
          </a:p>
          <a:p>
            <a:pPr lvl="1"/>
            <a:r>
              <a:rPr lang="en-US" dirty="0"/>
              <a:t>Keep as much information as possible</a:t>
            </a:r>
          </a:p>
          <a:p>
            <a:pPr lvl="1"/>
            <a:r>
              <a:rPr lang="en-US" dirty="0"/>
              <a:t>Let the learning algorithm figure out what is important and what isn’t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If you don’t have much data / optimization...</a:t>
            </a:r>
          </a:p>
          <a:p>
            <a:pPr lvl="1"/>
            <a:r>
              <a:rPr lang="en-US" dirty="0"/>
              <a:t>Reduce the number of features you maintain</a:t>
            </a:r>
          </a:p>
          <a:p>
            <a:pPr lvl="1"/>
            <a:r>
              <a:rPr lang="en-US" dirty="0"/>
              <a:t>Normalize away irrelevant things</a:t>
            </a:r>
          </a:p>
          <a:p>
            <a:pPr lvl="1"/>
            <a:endParaRPr lang="en-US" dirty="0"/>
          </a:p>
          <a:p>
            <a:r>
              <a:rPr lang="en-US" dirty="0"/>
              <a:t>Focus on things relevant to the concept…</a:t>
            </a:r>
          </a:p>
          <a:p>
            <a:pPr lvl="1"/>
            <a:r>
              <a:rPr lang="en-US" dirty="0"/>
              <a:t>Explore data / use your intuition</a:t>
            </a:r>
          </a:p>
          <a:p>
            <a:pPr lvl="1"/>
            <a:r>
              <a:rPr lang="en-US" dirty="0"/>
              <a:t>Overfitting / underfitting </a:t>
            </a:r>
            <a:r>
              <a:rPr lang="en-US" dirty="0">
                <a:sym typeface="Wingdings" panose="05000000000000000000" pitchFamily="2" charset="2"/>
              </a:rPr>
              <a:t> much more later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4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CA3B-1D78-4F39-A8CA-274E1994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675" y="84771"/>
            <a:ext cx="10515600" cy="610355"/>
          </a:xfrm>
        </p:spPr>
        <p:txBody>
          <a:bodyPr>
            <a:normAutofit fontScale="90000"/>
          </a:bodyPr>
          <a:lstStyle/>
          <a:p>
            <a:r>
              <a:rPr lang="en-US" dirty="0"/>
              <a:t>Bag of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FD5E3-D244-4C14-A071-6FDC7AA43D90}"/>
              </a:ext>
            </a:extLst>
          </p:cNvPr>
          <p:cNvSpPr txBox="1"/>
          <p:nvPr/>
        </p:nvSpPr>
        <p:spPr>
          <a:xfrm>
            <a:off x="838200" y="2828835"/>
            <a:ext cx="2160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word of text.</a:t>
            </a:r>
          </a:p>
          <a:p>
            <a:r>
              <a:rPr lang="en-US" dirty="0"/>
              <a:t>A word is a token.</a:t>
            </a:r>
          </a:p>
          <a:p>
            <a:r>
              <a:rPr lang="en-US" dirty="0"/>
              <a:t>Tokens and features.</a:t>
            </a:r>
          </a:p>
          <a:p>
            <a:r>
              <a:rPr lang="en-US" dirty="0"/>
              <a:t>Few features of text.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17CADE-C94D-4990-9FF7-A5A92B3766AB}"/>
              </a:ext>
            </a:extLst>
          </p:cNvPr>
          <p:cNvCxnSpPr>
            <a:cxnSpLocks/>
          </p:cNvCxnSpPr>
          <p:nvPr/>
        </p:nvCxnSpPr>
        <p:spPr>
          <a:xfrm flipV="1">
            <a:off x="1400175" y="4267201"/>
            <a:ext cx="152400" cy="9905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C0A0D0-BDC2-4B0D-A17D-F15158B94D70}"/>
              </a:ext>
            </a:extLst>
          </p:cNvPr>
          <p:cNvSpPr txBox="1"/>
          <p:nvPr/>
        </p:nvSpPr>
        <p:spPr>
          <a:xfrm>
            <a:off x="289652" y="2828835"/>
            <a:ext cx="548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m1: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m2: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m3: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m4: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F133D-4202-4180-B4C5-7434DE9000F9}"/>
              </a:ext>
            </a:extLst>
          </p:cNvPr>
          <p:cNvSpPr txBox="1"/>
          <p:nvPr/>
        </p:nvSpPr>
        <p:spPr>
          <a:xfrm>
            <a:off x="592501" y="5195798"/>
            <a:ext cx="13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Training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2CE36-2E5F-4A84-A695-6FF12DD2EB59}"/>
              </a:ext>
            </a:extLst>
          </p:cNvPr>
          <p:cNvSpPr txBox="1"/>
          <p:nvPr/>
        </p:nvSpPr>
        <p:spPr>
          <a:xfrm>
            <a:off x="4619625" y="221932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F2520-D71E-4E20-88C0-F643A04F59FC}"/>
              </a:ext>
            </a:extLst>
          </p:cNvPr>
          <p:cNvSpPr txBox="1"/>
          <p:nvPr/>
        </p:nvSpPr>
        <p:spPr>
          <a:xfrm>
            <a:off x="4928942" y="1849992"/>
            <a:ext cx="66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C6F75-BA02-49BB-9459-40B1AFA3040C}"/>
              </a:ext>
            </a:extLst>
          </p:cNvPr>
          <p:cNvSpPr txBox="1"/>
          <p:nvPr/>
        </p:nvSpPr>
        <p:spPr>
          <a:xfrm>
            <a:off x="5680870" y="179891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2134F-2D34-4A08-B83D-EB180BB9FA05}"/>
              </a:ext>
            </a:extLst>
          </p:cNvPr>
          <p:cNvSpPr txBox="1"/>
          <p:nvPr/>
        </p:nvSpPr>
        <p:spPr>
          <a:xfrm>
            <a:off x="6029075" y="2034658"/>
            <a:ext cx="5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DC74D-6835-4891-B323-0A4DECFCB75C}"/>
              </a:ext>
            </a:extLst>
          </p:cNvPr>
          <p:cNvSpPr txBox="1"/>
          <p:nvPr/>
        </p:nvSpPr>
        <p:spPr>
          <a:xfrm>
            <a:off x="5142588" y="290339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2133C3-B653-4638-85AF-00BC084A4FF6}"/>
              </a:ext>
            </a:extLst>
          </p:cNvPr>
          <p:cNvSpPr txBox="1"/>
          <p:nvPr/>
        </p:nvSpPr>
        <p:spPr>
          <a:xfrm>
            <a:off x="4232018" y="2800945"/>
            <a:ext cx="66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A3D9B-4635-4670-B282-5FF00CA33CE7}"/>
              </a:ext>
            </a:extLst>
          </p:cNvPr>
          <p:cNvSpPr txBox="1"/>
          <p:nvPr/>
        </p:nvSpPr>
        <p:spPr>
          <a:xfrm>
            <a:off x="5833270" y="269426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144BF-05A1-4970-A526-1C4C3F8F641F}"/>
              </a:ext>
            </a:extLst>
          </p:cNvPr>
          <p:cNvSpPr txBox="1"/>
          <p:nvPr/>
        </p:nvSpPr>
        <p:spPr>
          <a:xfrm>
            <a:off x="6181475" y="29300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AD9C06-4124-4FB1-A030-4349647476C5}"/>
              </a:ext>
            </a:extLst>
          </p:cNvPr>
          <p:cNvSpPr txBox="1"/>
          <p:nvPr/>
        </p:nvSpPr>
        <p:spPr>
          <a:xfrm>
            <a:off x="5290225" y="3456026"/>
            <a:ext cx="715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E11D01-0E88-404F-AD68-866D7EA0605A}"/>
              </a:ext>
            </a:extLst>
          </p:cNvPr>
          <p:cNvSpPr txBox="1"/>
          <p:nvPr/>
        </p:nvSpPr>
        <p:spPr>
          <a:xfrm>
            <a:off x="4580737" y="3826430"/>
            <a:ext cx="804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60A991-46AB-4C0C-BE2B-B8EBA4D04B9D}"/>
              </a:ext>
            </a:extLst>
          </p:cNvPr>
          <p:cNvSpPr txBox="1"/>
          <p:nvPr/>
        </p:nvSpPr>
        <p:spPr>
          <a:xfrm>
            <a:off x="5586128" y="401109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3962D8-1F34-452C-81B5-F5F780FAE72E}"/>
              </a:ext>
            </a:extLst>
          </p:cNvPr>
          <p:cNvSpPr txBox="1"/>
          <p:nvPr/>
        </p:nvSpPr>
        <p:spPr>
          <a:xfrm>
            <a:off x="6142587" y="3640692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C1FB37-EE19-45AD-BF14-01807BC201A0}"/>
              </a:ext>
            </a:extLst>
          </p:cNvPr>
          <p:cNvSpPr txBox="1"/>
          <p:nvPr/>
        </p:nvSpPr>
        <p:spPr>
          <a:xfrm>
            <a:off x="4400143" y="4356733"/>
            <a:ext cx="528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772373-A5D8-442B-9514-7E6FA8BF3663}"/>
              </a:ext>
            </a:extLst>
          </p:cNvPr>
          <p:cNvSpPr txBox="1"/>
          <p:nvPr/>
        </p:nvSpPr>
        <p:spPr>
          <a:xfrm>
            <a:off x="6160604" y="4249576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41A149-07BC-4F7E-A127-BDFB678F9F86}"/>
              </a:ext>
            </a:extLst>
          </p:cNvPr>
          <p:cNvSpPr txBox="1"/>
          <p:nvPr/>
        </p:nvSpPr>
        <p:spPr>
          <a:xfrm>
            <a:off x="5176465" y="466724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16A12B-4AE9-4F2A-B05C-899DFE1641AC}"/>
              </a:ext>
            </a:extLst>
          </p:cNvPr>
          <p:cNvSpPr txBox="1"/>
          <p:nvPr/>
        </p:nvSpPr>
        <p:spPr>
          <a:xfrm>
            <a:off x="5764300" y="4792738"/>
            <a:ext cx="5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BECF4A-2288-4D2F-911B-46B388A0CFF4}"/>
              </a:ext>
            </a:extLst>
          </p:cNvPr>
          <p:cNvSpPr/>
          <p:nvPr/>
        </p:nvSpPr>
        <p:spPr>
          <a:xfrm>
            <a:off x="4162425" y="1552575"/>
            <a:ext cx="3028950" cy="40862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AD9EC3-D51C-4344-8417-1B0D293B1CC9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642598" y="5257800"/>
            <a:ext cx="938139" cy="450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64CA15-E661-4C22-A871-76D9537B3757}"/>
              </a:ext>
            </a:extLst>
          </p:cNvPr>
          <p:cNvSpPr txBox="1"/>
          <p:nvPr/>
        </p:nvSpPr>
        <p:spPr>
          <a:xfrm>
            <a:off x="2822018" y="5523190"/>
            <a:ext cx="82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Tokens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6B5A1E-239D-435C-9988-803C1F834140}"/>
              </a:ext>
            </a:extLst>
          </p:cNvPr>
          <p:cNvCxnSpPr>
            <a:cxnSpLocks/>
          </p:cNvCxnSpPr>
          <p:nvPr/>
        </p:nvCxnSpPr>
        <p:spPr>
          <a:xfrm>
            <a:off x="2435357" y="1496210"/>
            <a:ext cx="1964786" cy="7231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4B9FDBE-46D9-4CCC-94B8-119B21CCC609}"/>
              </a:ext>
            </a:extLst>
          </p:cNvPr>
          <p:cNvSpPr txBox="1"/>
          <p:nvPr/>
        </p:nvSpPr>
        <p:spPr>
          <a:xfrm>
            <a:off x="1558873" y="1108204"/>
            <a:ext cx="146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Bag of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D5D06D67-7C2C-4CAE-A5CB-66F1AEDC90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4520319"/>
                  </p:ext>
                </p:extLst>
              </p:nvPr>
            </p:nvGraphicFramePr>
            <p:xfrm>
              <a:off x="8423037" y="1741487"/>
              <a:ext cx="229577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888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1147888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word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features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D5D06D67-7C2C-4CAE-A5CB-66F1AEDC90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4520319"/>
                  </p:ext>
                </p:extLst>
              </p:nvPr>
            </p:nvGraphicFramePr>
            <p:xfrm>
              <a:off x="8423037" y="1741487"/>
              <a:ext cx="229577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888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1147888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8197" r="-101058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108197" r="-101058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word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208197" r="-101058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308197" r="-10105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408197" r="-10105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508197" r="-10105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608197" r="-101058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708197" r="-101058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808197" r="-10105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features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908197" r="-10105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6D2C36-ABBB-458A-B47A-4A398B105D75}"/>
              </a:ext>
            </a:extLst>
          </p:cNvPr>
          <p:cNvCxnSpPr>
            <a:cxnSpLocks/>
          </p:cNvCxnSpPr>
          <p:nvPr/>
        </p:nvCxnSpPr>
        <p:spPr>
          <a:xfrm flipH="1" flipV="1">
            <a:off x="9570925" y="5565130"/>
            <a:ext cx="419003" cy="5977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BF528F-C62B-4E4B-95E4-99FD6058921F}"/>
              </a:ext>
            </a:extLst>
          </p:cNvPr>
          <p:cNvSpPr txBox="1"/>
          <p:nvPr/>
        </p:nvSpPr>
        <p:spPr>
          <a:xfrm>
            <a:off x="9570925" y="6162874"/>
            <a:ext cx="100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Features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1B7B6A1-D605-49F8-972F-EDF12A7046AB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1081087"/>
            <a:ext cx="647701" cy="576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EA767-7A05-4C84-A61A-59277C72AA85}"/>
              </a:ext>
            </a:extLst>
          </p:cNvPr>
          <p:cNvSpPr txBox="1"/>
          <p:nvPr/>
        </p:nvSpPr>
        <p:spPr>
          <a:xfrm>
            <a:off x="7267207" y="695126"/>
            <a:ext cx="314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 feature per unique token</a:t>
            </a:r>
          </a:p>
        </p:txBody>
      </p:sp>
    </p:spTree>
    <p:extLst>
      <p:ext uri="{BB962C8B-B14F-4D97-AF65-F5344CB8AC3E}">
        <p14:creationId xmlns:p14="http://schemas.microsoft.com/office/powerpoint/2010/main" val="84706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9" grpId="0"/>
      <p:bldP spid="35" grpId="0"/>
      <p:bldP spid="40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CA3B-1D78-4F39-A8CA-274E1994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675" y="103821"/>
            <a:ext cx="10515600" cy="610355"/>
          </a:xfrm>
        </p:spPr>
        <p:txBody>
          <a:bodyPr>
            <a:normAutofit fontScale="90000"/>
          </a:bodyPr>
          <a:lstStyle/>
          <a:p>
            <a:r>
              <a:rPr lang="en-US" dirty="0"/>
              <a:t>Bag of Words: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FD5E3-D244-4C14-A071-6FDC7AA43D90}"/>
              </a:ext>
            </a:extLst>
          </p:cNvPr>
          <p:cNvSpPr txBox="1"/>
          <p:nvPr/>
        </p:nvSpPr>
        <p:spPr>
          <a:xfrm>
            <a:off x="666750" y="2828835"/>
            <a:ext cx="2160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word of text.</a:t>
            </a:r>
          </a:p>
          <a:p>
            <a:r>
              <a:rPr lang="en-US" dirty="0"/>
              <a:t>A word is a token.</a:t>
            </a:r>
          </a:p>
          <a:p>
            <a:r>
              <a:rPr lang="en-US" dirty="0"/>
              <a:t>Tokens and features.</a:t>
            </a:r>
          </a:p>
          <a:p>
            <a:r>
              <a:rPr lang="en-US" dirty="0"/>
              <a:t>Few features of text.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0A0D0-BDC2-4B0D-A17D-F15158B94D70}"/>
              </a:ext>
            </a:extLst>
          </p:cNvPr>
          <p:cNvSpPr txBox="1"/>
          <p:nvPr/>
        </p:nvSpPr>
        <p:spPr>
          <a:xfrm>
            <a:off x="118202" y="2828835"/>
            <a:ext cx="548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m1: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m2: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m3: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D5D06D67-7C2C-4CAE-A5CB-66F1AEDC90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46116"/>
                  </p:ext>
                </p:extLst>
              </p:nvPr>
            </p:nvGraphicFramePr>
            <p:xfrm>
              <a:off x="3003838" y="1574799"/>
              <a:ext cx="229577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888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1147888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word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features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D5D06D67-7C2C-4CAE-A5CB-66F1AEDC90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46116"/>
                  </p:ext>
                </p:extLst>
              </p:nvPr>
            </p:nvGraphicFramePr>
            <p:xfrm>
              <a:off x="3003838" y="1574799"/>
              <a:ext cx="229577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888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1147888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8197" r="-101058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108197" r="-101058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word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208197" r="-101058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308197" r="-10105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408197" r="-10105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516667" r="-10105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606557" r="-1010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706557" r="-10105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806557" r="-10105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features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9" t="-906557" r="-1010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F7276840-FDCC-45ED-A728-0C9E78CEFED9}"/>
              </a:ext>
            </a:extLst>
          </p:cNvPr>
          <p:cNvSpPr txBox="1">
            <a:spLocks/>
          </p:cNvSpPr>
          <p:nvPr/>
        </p:nvSpPr>
        <p:spPr>
          <a:xfrm>
            <a:off x="923675" y="6415030"/>
            <a:ext cx="10515600" cy="517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Use bag of words when you have a lot of data, can use many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7">
                <a:extLst>
                  <a:ext uri="{FF2B5EF4-FFF2-40B4-BE49-F238E27FC236}">
                    <a16:creationId xmlns:a16="http://schemas.microsoft.com/office/drawing/2014/main" id="{17DC9612-B6AE-4011-A1A0-F0E2840C78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21784"/>
                  </p:ext>
                </p:extLst>
              </p:nvPr>
            </p:nvGraphicFramePr>
            <p:xfrm>
              <a:off x="5726255" y="1203959"/>
              <a:ext cx="2295775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9155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407674755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766586489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4682764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7">
                <a:extLst>
                  <a:ext uri="{FF2B5EF4-FFF2-40B4-BE49-F238E27FC236}">
                    <a16:creationId xmlns:a16="http://schemas.microsoft.com/office/drawing/2014/main" id="{17DC9612-B6AE-4011-A1A0-F0E2840C78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21784"/>
                  </p:ext>
                </p:extLst>
              </p:nvPr>
            </p:nvGraphicFramePr>
            <p:xfrm>
              <a:off x="5726255" y="1203959"/>
              <a:ext cx="2295775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9155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407674755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766586489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4682764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103279" r="-406667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203279" r="-406667" b="-8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303279" r="-406667" b="-7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403279" r="-406667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511667" r="-406667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601639" r="-40666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701639" r="-40666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801639" r="-40666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901639" r="-4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33" t="-1001639" r="-40666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D946AF7D-BB0C-4B0A-A1FE-1D3795B728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1157895"/>
                  </p:ext>
                </p:extLst>
              </p:nvPr>
            </p:nvGraphicFramePr>
            <p:xfrm>
              <a:off x="8448672" y="1203959"/>
              <a:ext cx="1762126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1063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881063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test1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D946AF7D-BB0C-4B0A-A1FE-1D3795B728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1157895"/>
                  </p:ext>
                </p:extLst>
              </p:nvPr>
            </p:nvGraphicFramePr>
            <p:xfrm>
              <a:off x="8448672" y="1203959"/>
              <a:ext cx="1762126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1063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881063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test1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103279" r="-102069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203279" r="-102069" b="-8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303279" r="-102069" b="-7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403279" r="-102069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511667" r="-102069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601639" r="-10206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701639" r="-10206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801639" r="-10206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901639" r="-10206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1001639" r="-10206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27A3C2B-2C95-458D-BA7D-0D9D7A11CB6B}"/>
              </a:ext>
            </a:extLst>
          </p:cNvPr>
          <p:cNvSpPr txBox="1"/>
          <p:nvPr/>
        </p:nvSpPr>
        <p:spPr>
          <a:xfrm>
            <a:off x="7201829" y="423920"/>
            <a:ext cx="392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test1:</a:t>
            </a:r>
            <a:r>
              <a:rPr lang="en-US" dirty="0"/>
              <a:t> Some features for a text example.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AC21D-A638-4B78-A647-806C85E5C2F3}"/>
              </a:ext>
            </a:extLst>
          </p:cNvPr>
          <p:cNvSpPr txBox="1"/>
          <p:nvPr/>
        </p:nvSpPr>
        <p:spPr>
          <a:xfrm>
            <a:off x="3229743" y="5288455"/>
            <a:ext cx="1843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Selected Features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C6C8B0-CC08-4E16-8BB3-A74B4C6FB6D4}"/>
              </a:ext>
            </a:extLst>
          </p:cNvPr>
          <p:cNvSpPr txBox="1"/>
          <p:nvPr/>
        </p:nvSpPr>
        <p:spPr>
          <a:xfrm>
            <a:off x="6330256" y="5293711"/>
            <a:ext cx="110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Training 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6F6544-74DB-46D9-8721-9AA32217C74D}"/>
              </a:ext>
            </a:extLst>
          </p:cNvPr>
          <p:cNvSpPr txBox="1"/>
          <p:nvPr/>
        </p:nvSpPr>
        <p:spPr>
          <a:xfrm>
            <a:off x="8960678" y="5283722"/>
            <a:ext cx="72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Test 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526D19-432A-4B44-A056-0D578DE6DF3B}"/>
              </a:ext>
            </a:extLst>
          </p:cNvPr>
          <p:cNvCxnSpPr>
            <a:cxnSpLocks/>
          </p:cNvCxnSpPr>
          <p:nvPr/>
        </p:nvCxnSpPr>
        <p:spPr>
          <a:xfrm>
            <a:off x="9164033" y="736102"/>
            <a:ext cx="256192" cy="4001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37">
                <a:extLst>
                  <a:ext uri="{FF2B5EF4-FFF2-40B4-BE49-F238E27FC236}">
                    <a16:creationId xmlns:a16="http://schemas.microsoft.com/office/drawing/2014/main" id="{9199553A-74B7-4EE1-834A-4FE70B79E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6172394"/>
                  </p:ext>
                </p:extLst>
              </p:nvPr>
            </p:nvGraphicFramePr>
            <p:xfrm>
              <a:off x="5719226" y="1204946"/>
              <a:ext cx="2295775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9155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407674755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766586489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4682764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37">
                <a:extLst>
                  <a:ext uri="{FF2B5EF4-FFF2-40B4-BE49-F238E27FC236}">
                    <a16:creationId xmlns:a16="http://schemas.microsoft.com/office/drawing/2014/main" id="{9199553A-74B7-4EE1-834A-4FE70B79E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6172394"/>
                  </p:ext>
                </p:extLst>
              </p:nvPr>
            </p:nvGraphicFramePr>
            <p:xfrm>
              <a:off x="5719226" y="1204946"/>
              <a:ext cx="2295775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9155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4076747556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766586489"/>
                        </a:ext>
                      </a:extLst>
                    </a:gridCol>
                    <a:gridCol w="459155">
                      <a:extLst>
                        <a:ext uri="{9D8B030D-6E8A-4147-A177-3AD203B41FA5}">
                          <a16:colId xmlns:a16="http://schemas.microsoft.com/office/drawing/2014/main" val="14682764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m4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103279" r="-405333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203279" r="-405333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303279" r="-405333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403279" r="-40533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511667" r="-405333" b="-5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601639" r="-40533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701639" r="-40533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801639" r="-40533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901639" r="-40533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333" t="-1001639" r="-40533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1F467915-9C5E-4007-BA6D-8482C83DC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8784002"/>
                  </p:ext>
                </p:extLst>
              </p:nvPr>
            </p:nvGraphicFramePr>
            <p:xfrm>
              <a:off x="8444138" y="1204946"/>
              <a:ext cx="1762126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1063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881063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test1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1F467915-9C5E-4007-BA6D-8482C83DC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8784002"/>
                  </p:ext>
                </p:extLst>
              </p:nvPr>
            </p:nvGraphicFramePr>
            <p:xfrm>
              <a:off x="8444138" y="1204946"/>
              <a:ext cx="1762126" cy="4079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1063">
                      <a:extLst>
                        <a:ext uri="{9D8B030D-6E8A-4147-A177-3AD203B41FA5}">
                          <a16:colId xmlns:a16="http://schemas.microsoft.com/office/drawing/2014/main" val="1351602846"/>
                        </a:ext>
                      </a:extLst>
                    </a:gridCol>
                    <a:gridCol w="881063">
                      <a:extLst>
                        <a:ext uri="{9D8B030D-6E8A-4147-A177-3AD203B41FA5}">
                          <a16:colId xmlns:a16="http://schemas.microsoft.com/office/drawing/2014/main" val="1709534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</a:rPr>
                            <a:t>test1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2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103279" r="-101379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049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203279" r="-10137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325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303279" r="-101379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13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403279" r="-10137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328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511667" r="-101379" b="-5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44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601639" r="-10137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516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701639" r="-10137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801639" r="-10137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74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901639" r="-10137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0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90" t="-1001639" r="-10137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876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1D717ECC-455D-435D-AD5C-2C32ED131CF0}"/>
              </a:ext>
            </a:extLst>
          </p:cNvPr>
          <p:cNvSpPr txBox="1"/>
          <p:nvPr/>
        </p:nvSpPr>
        <p:spPr>
          <a:xfrm>
            <a:off x="10835423" y="1281885"/>
            <a:ext cx="1207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Out of 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vocabulary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5AD4FF-1F7A-4C00-A765-5884C20B8F1A}"/>
              </a:ext>
            </a:extLst>
          </p:cNvPr>
          <p:cNvSpPr/>
          <p:nvPr/>
        </p:nvSpPr>
        <p:spPr>
          <a:xfrm>
            <a:off x="10125075" y="421024"/>
            <a:ext cx="828675" cy="40019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2585F94-C762-4F13-A4FB-A2CF8292C0B9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596562" y="837471"/>
            <a:ext cx="842713" cy="4444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35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" grpId="0"/>
      <p:bldP spid="44" grpId="0"/>
      <p:bldP spid="48" grpId="0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BED4-BC05-487D-87D5-EF3A70CE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N-Grams: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DEF3-D3AF-4937-9541-0C86B8D8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using single tokens as features, use series of N tokens</a:t>
            </a:r>
          </a:p>
          <a:p>
            <a:r>
              <a:rPr lang="en-US" dirty="0"/>
              <a:t>“down the bank” vs “from the bank”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FD4A6-04F5-462A-88D4-EC4A4DE7816D}"/>
              </a:ext>
            </a:extLst>
          </p:cNvPr>
          <p:cNvSpPr txBox="1"/>
          <p:nvPr/>
        </p:nvSpPr>
        <p:spPr>
          <a:xfrm>
            <a:off x="838200" y="3142597"/>
            <a:ext cx="9229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1: “Nah I don't think he goes to </a:t>
            </a:r>
            <a:r>
              <a:rPr lang="en-US" dirty="0" err="1"/>
              <a:t>usf</a:t>
            </a:r>
            <a:r>
              <a:rPr lang="en-US" dirty="0"/>
              <a:t>”</a:t>
            </a:r>
          </a:p>
          <a:p>
            <a:r>
              <a:rPr lang="en-US" dirty="0"/>
              <a:t>Message 2: “Text FA to 87121 to receive entry”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3232A9-2E87-4B08-B472-3567814FF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403919"/>
              </p:ext>
            </p:extLst>
          </p:nvPr>
        </p:nvGraphicFramePr>
        <p:xfrm>
          <a:off x="2413000" y="4014690"/>
          <a:ext cx="8783541" cy="79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657">
                  <a:extLst>
                    <a:ext uri="{9D8B030D-6E8A-4147-A177-3AD203B41FA5}">
                      <a16:colId xmlns:a16="http://schemas.microsoft.com/office/drawing/2014/main" val="1854630793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506853801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188603154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878719880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3641761004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591362421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833869733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066487032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625603258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290537803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2688069927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3430585708"/>
                    </a:ext>
                  </a:extLst>
                </a:gridCol>
                <a:gridCol w="675657">
                  <a:extLst>
                    <a:ext uri="{9D8B030D-6E8A-4147-A177-3AD203B41FA5}">
                      <a16:colId xmlns:a16="http://schemas.microsoft.com/office/drawing/2014/main" val="17480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Nah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 don’t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don’t</a:t>
                      </a:r>
                    </a:p>
                    <a:p>
                      <a:r>
                        <a:rPr lang="en-US" sz="1100" dirty="0"/>
                        <a:t>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think</a:t>
                      </a:r>
                    </a:p>
                    <a:p>
                      <a:r>
                        <a:rPr lang="en-US" sz="1100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he goes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goes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to </a:t>
                      </a:r>
                      <a:r>
                        <a:rPr lang="en-US" sz="1100" dirty="0" err="1"/>
                        <a:t>usf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Text 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FA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87121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To receive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receive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5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1755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E2A711F-4E48-41EA-B1B6-1BC23462FCB2}"/>
              </a:ext>
            </a:extLst>
          </p:cNvPr>
          <p:cNvSpPr/>
          <p:nvPr/>
        </p:nvSpPr>
        <p:spPr>
          <a:xfrm>
            <a:off x="1082798" y="4200864"/>
            <a:ext cx="124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Message 2: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2E88F-E5A8-4F91-AA86-2F4BC856D8A4}"/>
              </a:ext>
            </a:extLst>
          </p:cNvPr>
          <p:cNvSpPr txBox="1">
            <a:spLocks/>
          </p:cNvSpPr>
          <p:nvPr/>
        </p:nvSpPr>
        <p:spPr>
          <a:xfrm>
            <a:off x="838200" y="5839325"/>
            <a:ext cx="10515600" cy="517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Use when you have a LOT of data, can use MANY features</a:t>
            </a:r>
          </a:p>
        </p:txBody>
      </p:sp>
    </p:spTree>
    <p:extLst>
      <p:ext uri="{BB962C8B-B14F-4D97-AF65-F5344CB8AC3E}">
        <p14:creationId xmlns:p14="http://schemas.microsoft.com/office/powerpoint/2010/main" val="102034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BED4-BC05-487D-87D5-EF3A70CE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N-Grams: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DEF3-D3AF-4937-9541-0C86B8D8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using series of tokens, use series of characters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FD4A6-04F5-462A-88D4-EC4A4DE7816D}"/>
              </a:ext>
            </a:extLst>
          </p:cNvPr>
          <p:cNvSpPr txBox="1"/>
          <p:nvPr/>
        </p:nvSpPr>
        <p:spPr>
          <a:xfrm>
            <a:off x="838200" y="2748401"/>
            <a:ext cx="9229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1: “Nah I don't think he goes to </a:t>
            </a:r>
            <a:r>
              <a:rPr lang="en-US" dirty="0" err="1"/>
              <a:t>usf</a:t>
            </a:r>
            <a:r>
              <a:rPr lang="en-US" dirty="0"/>
              <a:t>”</a:t>
            </a:r>
          </a:p>
          <a:p>
            <a:r>
              <a:rPr lang="en-US" dirty="0"/>
              <a:t>Message 2: “Text FA to 87121 to receive entry”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3232A9-2E87-4B08-B472-3567814FF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58961"/>
              </p:ext>
            </p:extLst>
          </p:nvPr>
        </p:nvGraphicFramePr>
        <p:xfrm>
          <a:off x="1966614" y="4014690"/>
          <a:ext cx="9229922" cy="79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994">
                  <a:extLst>
                    <a:ext uri="{9D8B030D-6E8A-4147-A177-3AD203B41FA5}">
                      <a16:colId xmlns:a16="http://schemas.microsoft.com/office/drawing/2014/main" val="1854630793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506853801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188603154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878719880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3641761004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591362421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833869733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066487032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625603258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290537803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2688069927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3430585708"/>
                    </a:ext>
                  </a:extLst>
                </a:gridCol>
                <a:gridCol w="709994">
                  <a:extLst>
                    <a:ext uri="{9D8B030D-6E8A-4147-A177-3AD203B41FA5}">
                      <a16:colId xmlns:a16="http://schemas.microsoft.com/office/drawing/2014/main" val="17480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 &lt;space&gt;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&lt;space&gt;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 &lt;space&gt;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&lt;space&gt;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&lt;space&gt;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en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ry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5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1755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E2A711F-4E48-41EA-B1B6-1BC23462FCB2}"/>
              </a:ext>
            </a:extLst>
          </p:cNvPr>
          <p:cNvSpPr/>
          <p:nvPr/>
        </p:nvSpPr>
        <p:spPr>
          <a:xfrm>
            <a:off x="528321" y="4225175"/>
            <a:ext cx="124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Message 2: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1EF379-148F-4D3F-A9DD-29A31CBF6DCA}"/>
              </a:ext>
            </a:extLst>
          </p:cNvPr>
          <p:cNvSpPr txBox="1">
            <a:spLocks/>
          </p:cNvSpPr>
          <p:nvPr/>
        </p:nvSpPr>
        <p:spPr>
          <a:xfrm>
            <a:off x="838200" y="5839325"/>
            <a:ext cx="10515600" cy="797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Helps with out of dictionary words &amp; spelling errors</a:t>
            </a:r>
          </a:p>
          <a:p>
            <a:pPr marL="0" indent="0" algn="ctr">
              <a:buNone/>
            </a:pPr>
            <a:r>
              <a:rPr lang="en-US" sz="2400" dirty="0"/>
              <a:t>Fixed number of features for given N (but can be very large)</a:t>
            </a:r>
          </a:p>
        </p:txBody>
      </p:sp>
    </p:spTree>
    <p:extLst>
      <p:ext uri="{BB962C8B-B14F-4D97-AF65-F5344CB8AC3E}">
        <p14:creationId xmlns:p14="http://schemas.microsoft.com/office/powerpoint/2010/main" val="10344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A703-F942-458A-9C35-246E289F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58" y="337939"/>
            <a:ext cx="10515600" cy="559365"/>
          </a:xfrm>
        </p:spPr>
        <p:txBody>
          <a:bodyPr>
            <a:noAutofit/>
          </a:bodyPr>
          <a:lstStyle/>
          <a:p>
            <a:r>
              <a:rPr lang="en-US" sz="2800" dirty="0"/>
              <a:t>TF-IDF</a:t>
            </a:r>
            <a:br>
              <a:rPr lang="en-US" sz="2800" dirty="0"/>
            </a:br>
            <a:r>
              <a:rPr lang="en-US" sz="2800" dirty="0"/>
              <a:t>Term Frequency – Inverse Document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CF5E-5FBA-4DB2-9633-32C221B2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960" y="1283067"/>
            <a:ext cx="6348761" cy="2604991"/>
          </a:xfrm>
        </p:spPr>
        <p:txBody>
          <a:bodyPr>
            <a:normAutofit/>
          </a:bodyPr>
          <a:lstStyle/>
          <a:p>
            <a:r>
              <a:rPr lang="en-US" sz="2000" dirty="0"/>
              <a:t>Instead of using binary: </a:t>
            </a:r>
            <a:r>
              <a:rPr lang="en-US" sz="2000" dirty="0" err="1"/>
              <a:t>ContainsWord</a:t>
            </a:r>
            <a:r>
              <a:rPr lang="en-US" sz="2000" dirty="0"/>
              <a:t>(&lt;term&gt;)</a:t>
            </a:r>
          </a:p>
          <a:p>
            <a:r>
              <a:rPr lang="en-US" sz="2000" dirty="0"/>
              <a:t>Use numeric importance score TF-IDF:</a:t>
            </a:r>
          </a:p>
          <a:p>
            <a:pPr marL="457200" lvl="1" indent="0">
              <a:buNone/>
            </a:pPr>
            <a:br>
              <a:rPr lang="en-US" sz="1800" dirty="0"/>
            </a:br>
            <a:r>
              <a:rPr lang="en-US" sz="1800" dirty="0" err="1"/>
              <a:t>TermFrequency</a:t>
            </a:r>
            <a:r>
              <a:rPr lang="en-US" sz="1800" dirty="0"/>
              <a:t>(&lt;term&gt;, &lt;document&gt;) = </a:t>
            </a:r>
          </a:p>
          <a:p>
            <a:pPr marL="1371600" lvl="3" indent="0">
              <a:buNone/>
            </a:pPr>
            <a:r>
              <a:rPr lang="en-US" sz="1400" dirty="0"/>
              <a:t>% of the words in &lt;document&gt; that are &lt;term&gt;</a:t>
            </a:r>
          </a:p>
          <a:p>
            <a:pPr lvl="1"/>
            <a:endParaRPr lang="en-US" sz="1800" dirty="0"/>
          </a:p>
          <a:p>
            <a:pPr marL="457200" lvl="1" indent="0">
              <a:buNone/>
            </a:pPr>
            <a:r>
              <a:rPr lang="en-US" sz="1800" dirty="0" err="1"/>
              <a:t>InverseDocumentFrequency</a:t>
            </a:r>
            <a:r>
              <a:rPr lang="en-US" sz="1800" dirty="0"/>
              <a:t>(&lt;term&gt;, &lt;documents&gt;) =</a:t>
            </a:r>
          </a:p>
          <a:p>
            <a:pPr marL="1371600" lvl="3" indent="0">
              <a:buNone/>
            </a:pPr>
            <a:r>
              <a:rPr lang="en-US" sz="1400" dirty="0"/>
              <a:t>log ( # documents / # documents that contain &lt;term&gt; 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22C215-A3C1-4044-9DE2-5966F6634A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1708" y="4070456"/>
                <a:ext cx="4008863" cy="3379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200" dirty="0"/>
                  <a:t>Words that occur in many documents have low score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22C215-A3C1-4044-9DE2-5966F6634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08" y="4070456"/>
                <a:ext cx="4008863" cy="337947"/>
              </a:xfrm>
              <a:prstGeom prst="rect">
                <a:avLst/>
              </a:prstGeom>
              <a:blipFill>
                <a:blip r:embed="rId2"/>
                <a:stretch>
                  <a:fillRect t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3E0B6FA-9914-48BE-9543-F205CA5D3E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523105"/>
              </p:ext>
            </p:extLst>
          </p:nvPr>
        </p:nvGraphicFramePr>
        <p:xfrm>
          <a:off x="7991708" y="394776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81A789-2546-4D94-AC2F-8326B3084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251824"/>
              </p:ext>
            </p:extLst>
          </p:nvPr>
        </p:nvGraphicFramePr>
        <p:xfrm>
          <a:off x="1832209" y="5457521"/>
          <a:ext cx="8527582" cy="830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113">
                  <a:extLst>
                    <a:ext uri="{9D8B030D-6E8A-4147-A177-3AD203B41FA5}">
                      <a16:colId xmlns:a16="http://schemas.microsoft.com/office/drawing/2014/main" val="3886571053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1854630793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506853801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188603154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878719880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3641761004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625603258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290537803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688069927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3430585708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17480616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527468462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747015890"/>
                    </a:ext>
                  </a:extLst>
                </a:gridCol>
                <a:gridCol w="609113">
                  <a:extLst>
                    <a:ext uri="{9D8B030D-6E8A-4147-A177-3AD203B41FA5}">
                      <a16:colId xmlns:a16="http://schemas.microsoft.com/office/drawing/2014/main" val="2596731368"/>
                    </a:ext>
                  </a:extLst>
                </a:gridCol>
              </a:tblGrid>
              <a:tr h="29250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don't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usf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87121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receive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55400"/>
                  </a:ext>
                </a:extLst>
              </a:tr>
              <a:tr h="268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BOW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175563"/>
                  </a:ext>
                </a:extLst>
              </a:tr>
              <a:tr h="268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.099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408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076D45-FC19-448B-94A9-DBEAC04BAD23}"/>
              </a:ext>
            </a:extLst>
          </p:cNvPr>
          <p:cNvSpPr txBox="1"/>
          <p:nvPr/>
        </p:nvSpPr>
        <p:spPr>
          <a:xfrm>
            <a:off x="704386" y="4733018"/>
            <a:ext cx="9229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1: “Nah I don't think he goes to </a:t>
            </a:r>
            <a:r>
              <a:rPr lang="en-US" dirty="0" err="1"/>
              <a:t>usf</a:t>
            </a:r>
            <a:r>
              <a:rPr lang="en-US" dirty="0"/>
              <a:t>”</a:t>
            </a:r>
          </a:p>
          <a:p>
            <a:r>
              <a:rPr lang="en-US" dirty="0"/>
              <a:t>Message 2: “Text FA to 87121 to receive entry”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5DEA15-E06B-47B3-860F-0C0CA5068A46}"/>
              </a:ext>
            </a:extLst>
          </p:cNvPr>
          <p:cNvCxnSpPr>
            <a:cxnSpLocks/>
          </p:cNvCxnSpPr>
          <p:nvPr/>
        </p:nvCxnSpPr>
        <p:spPr>
          <a:xfrm flipV="1">
            <a:off x="7136780" y="2351050"/>
            <a:ext cx="780586" cy="8307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A226C89-85CE-4B57-B44D-EF8DC1FC74C8}"/>
              </a:ext>
            </a:extLst>
          </p:cNvPr>
          <p:cNvSpPr/>
          <p:nvPr/>
        </p:nvSpPr>
        <p:spPr>
          <a:xfrm>
            <a:off x="6025070" y="5953826"/>
            <a:ext cx="412899" cy="412899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403687-2494-4879-815F-91182E055034}"/>
              </a:ext>
            </a:extLst>
          </p:cNvPr>
          <p:cNvSpPr txBox="1"/>
          <p:nvPr/>
        </p:nvSpPr>
        <p:spPr>
          <a:xfrm>
            <a:off x="763929" y="5818212"/>
            <a:ext cx="1008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Message 2: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6AFF3-F742-44A8-850C-118C6FC2892E}"/>
              </a:ext>
            </a:extLst>
          </p:cNvPr>
          <p:cNvSpPr txBox="1"/>
          <p:nvPr/>
        </p:nvSpPr>
        <p:spPr>
          <a:xfrm>
            <a:off x="112533" y="2089440"/>
            <a:ext cx="1262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Importance to 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Document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5EE99-1B25-40C3-B0FC-613DA0C0E8B4}"/>
              </a:ext>
            </a:extLst>
          </p:cNvPr>
          <p:cNvSpPr txBox="1"/>
          <p:nvPr/>
        </p:nvSpPr>
        <p:spPr>
          <a:xfrm>
            <a:off x="216076" y="3364838"/>
            <a:ext cx="1245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Novelty across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corpus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1E4846-5025-4C69-9726-4E6ABEF0E69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375315" y="2351050"/>
            <a:ext cx="564997" cy="1231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F6C9E8-45A0-4811-9BC6-8968C1646B8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461353" y="3434576"/>
            <a:ext cx="478959" cy="19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3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6" grpId="0">
        <p:bldAsOne/>
      </p:bldGraphic>
      <p:bldP spid="8" grpId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8E64-D64E-45DD-B3FB-DCA95C97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-- Word2Vec and </a:t>
            </a:r>
            <a:r>
              <a:rPr lang="en-US" dirty="0" err="1"/>
              <a:t>FastText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5BF7-27D9-419D-A6C4-C0F7C6937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157" y="1690688"/>
            <a:ext cx="4727643" cy="2755631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Word -&gt; Coordinate in N dimension</a:t>
            </a:r>
          </a:p>
          <a:p>
            <a:endParaRPr lang="en-US" sz="2000" dirty="0"/>
          </a:p>
          <a:p>
            <a:r>
              <a:rPr lang="en-US" sz="2000" dirty="0"/>
              <a:t>Regions of space contain similar concepts</a:t>
            </a:r>
          </a:p>
          <a:p>
            <a:endParaRPr lang="en-US" sz="2000" dirty="0"/>
          </a:p>
          <a:p>
            <a:r>
              <a:rPr lang="en-US" sz="2000" dirty="0"/>
              <a:t>Creating Features Options:</a:t>
            </a:r>
          </a:p>
          <a:p>
            <a:pPr lvl="1"/>
            <a:r>
              <a:rPr lang="en-US" sz="1600" dirty="0"/>
              <a:t>Average vector across words</a:t>
            </a:r>
          </a:p>
          <a:p>
            <a:pPr lvl="1"/>
            <a:r>
              <a:rPr lang="en-US" sz="1600" dirty="0"/>
              <a:t>Count in specific regions</a:t>
            </a:r>
            <a:br>
              <a:rPr lang="en-US" sz="1600" dirty="0"/>
            </a:br>
            <a:endParaRPr lang="en-US" sz="1600" dirty="0"/>
          </a:p>
          <a:p>
            <a:r>
              <a:rPr lang="en-US" sz="2000" dirty="0"/>
              <a:t>Commonly used with neural networks</a:t>
            </a:r>
            <a:r>
              <a:rPr lang="en-US" sz="1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89334-2BEB-44FA-8B06-3066C57D3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60" y="1690688"/>
            <a:ext cx="4584589" cy="275563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08D23B-276B-46EA-A8A9-5611B3FBED5A}"/>
              </a:ext>
            </a:extLst>
          </p:cNvPr>
          <p:cNvSpPr txBox="1">
            <a:spLocks/>
          </p:cNvSpPr>
          <p:nvPr/>
        </p:nvSpPr>
        <p:spPr>
          <a:xfrm>
            <a:off x="838200" y="5839325"/>
            <a:ext cx="10515600" cy="802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Replaces words with their ‘meanings’ – sparse -&gt; dense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68058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E82D-B7A5-4FBB-A272-25EDE288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(Numeric </a:t>
            </a:r>
            <a:r>
              <a:rPr lang="en-US"/>
              <a:t>=&gt; Better Numeric</a:t>
            </a:r>
            <a:r>
              <a:rPr lang="en-US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C4E00F-A2E6-48B9-A877-90E63DDFB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164670"/>
              </p:ext>
            </p:extLst>
          </p:nvPr>
        </p:nvGraphicFramePr>
        <p:xfrm>
          <a:off x="1350276" y="2466264"/>
          <a:ext cx="647700" cy="1988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408059403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2215205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816222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5155863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681089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520040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810905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0801987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91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109088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1B09CD-19DB-4926-A33B-542207C92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64025"/>
              </p:ext>
            </p:extLst>
          </p:nvPr>
        </p:nvGraphicFramePr>
        <p:xfrm>
          <a:off x="3622629" y="2466264"/>
          <a:ext cx="647700" cy="1988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66294433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-38.875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245633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-0.875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163762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-52.875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0551211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6.125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773098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30.125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1622697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38.125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24335398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2.125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852369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16.125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430798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F587FF-7AF8-4C15-975A-620DBD42F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63169"/>
              </p:ext>
            </p:extLst>
          </p:nvPr>
        </p:nvGraphicFramePr>
        <p:xfrm>
          <a:off x="5881335" y="2466264"/>
          <a:ext cx="949371" cy="1988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49371">
                  <a:extLst>
                    <a:ext uri="{9D8B030D-6E8A-4147-A177-3AD203B41FA5}">
                      <a16:colId xmlns:a16="http://schemas.microsoft.com/office/drawing/2014/main" val="2257661758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-1.31696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4575931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-0.02964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1944346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-1.79123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747437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0.207495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7737663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1.020536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2817819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1.29155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4809183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0.071988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0525254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0.546262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314334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B60B97-89D9-4EAE-B816-941CF180CDE6}"/>
              </a:ext>
            </a:extLst>
          </p:cNvPr>
          <p:cNvSpPr txBox="1"/>
          <p:nvPr/>
        </p:nvSpPr>
        <p:spPr>
          <a:xfrm>
            <a:off x="3483467" y="1903814"/>
            <a:ext cx="92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Normalize</a:t>
            </a:r>
          </a:p>
          <a:p>
            <a:pPr algn="ctr"/>
            <a:r>
              <a:rPr lang="en-US" sz="1400" dirty="0"/>
              <a:t>Mean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28DB06-E7DD-48B9-9F58-6F6E2DBAAE44}"/>
              </a:ext>
            </a:extLst>
          </p:cNvPr>
          <p:cNvSpPr txBox="1"/>
          <p:nvPr/>
        </p:nvSpPr>
        <p:spPr>
          <a:xfrm>
            <a:off x="1350276" y="198075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FD7D6-067A-491D-9FF9-6C1114D93D3B}"/>
              </a:ext>
            </a:extLst>
          </p:cNvPr>
          <p:cNvSpPr txBox="1"/>
          <p:nvPr/>
        </p:nvSpPr>
        <p:spPr>
          <a:xfrm>
            <a:off x="5884087" y="1903814"/>
            <a:ext cx="92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Normalize</a:t>
            </a:r>
          </a:p>
          <a:p>
            <a:pPr algn="ctr"/>
            <a:r>
              <a:rPr lang="en-US" sz="1400" dirty="0"/>
              <a:t>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FBF10-361C-45DE-BE3A-F8AE772C32C2}"/>
              </a:ext>
            </a:extLst>
          </p:cNvPr>
          <p:cNvSpPr txBox="1"/>
          <p:nvPr/>
        </p:nvSpPr>
        <p:spPr>
          <a:xfrm>
            <a:off x="930172" y="4712585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Mean: 74.875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59BA3-E184-4F35-B114-9189D7AAE061}"/>
              </a:ext>
            </a:extLst>
          </p:cNvPr>
          <p:cNvSpPr txBox="1"/>
          <p:nvPr/>
        </p:nvSpPr>
        <p:spPr>
          <a:xfrm>
            <a:off x="3471125" y="471258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Mean: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FAD032-4375-4A4E-9E73-3EA883BD4373}"/>
              </a:ext>
            </a:extLst>
          </p:cNvPr>
          <p:cNvSpPr txBox="1"/>
          <p:nvPr/>
        </p:nvSpPr>
        <p:spPr>
          <a:xfrm>
            <a:off x="3265522" y="5007676"/>
            <a:ext cx="1361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Std: 29.5188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EBF65-4F94-47CB-B467-EA097DC7C4FF}"/>
              </a:ext>
            </a:extLst>
          </p:cNvPr>
          <p:cNvSpPr txBox="1"/>
          <p:nvPr/>
        </p:nvSpPr>
        <p:spPr>
          <a:xfrm>
            <a:off x="5886081" y="471258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Mean: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37F47-5B78-4F01-B2E0-8997D5FF7502}"/>
              </a:ext>
            </a:extLst>
          </p:cNvPr>
          <p:cNvSpPr txBox="1"/>
          <p:nvPr/>
        </p:nvSpPr>
        <p:spPr>
          <a:xfrm>
            <a:off x="5996466" y="4969030"/>
            <a:ext cx="719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Std: 1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8BEBF5F-C7F0-4E96-896C-2299099E3739}"/>
              </a:ext>
            </a:extLst>
          </p:cNvPr>
          <p:cNvSpPr/>
          <p:nvPr/>
        </p:nvSpPr>
        <p:spPr>
          <a:xfrm>
            <a:off x="2313296" y="3193576"/>
            <a:ext cx="1016758" cy="300251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AD6169-1D6B-48D2-A065-0E6BE4EEE702}"/>
              </a:ext>
            </a:extLst>
          </p:cNvPr>
          <p:cNvSpPr txBox="1"/>
          <p:nvPr/>
        </p:nvSpPr>
        <p:spPr>
          <a:xfrm>
            <a:off x="2418080" y="3384835"/>
            <a:ext cx="706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Subtract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Mean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D8A5250-A43C-41AB-80DC-3C7E2F75E8DA}"/>
              </a:ext>
            </a:extLst>
          </p:cNvPr>
          <p:cNvSpPr/>
          <p:nvPr/>
        </p:nvSpPr>
        <p:spPr>
          <a:xfrm>
            <a:off x="4580259" y="3193576"/>
            <a:ext cx="1016758" cy="300251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041BDC-6D57-43B5-A5AD-A525B66E916F}"/>
              </a:ext>
            </a:extLst>
          </p:cNvPr>
          <p:cNvSpPr txBox="1"/>
          <p:nvPr/>
        </p:nvSpPr>
        <p:spPr>
          <a:xfrm>
            <a:off x="4658659" y="3384835"/>
            <a:ext cx="759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Divide by</a:t>
            </a:r>
          </a:p>
          <a:p>
            <a:pPr algn="ctr"/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Stdev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3BB58-4719-4913-B15A-0F3A3FD2084B}"/>
              </a:ext>
            </a:extLst>
          </p:cNvPr>
          <p:cNvSpPr txBox="1"/>
          <p:nvPr/>
        </p:nvSpPr>
        <p:spPr>
          <a:xfrm>
            <a:off x="8106852" y="1603612"/>
            <a:ext cx="33709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Helps make model’s job easier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need to learn what is ‘big’ or ‘small’ for the feature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model types benefit more than others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To use in practice: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Estimate mean/</a:t>
            </a:r>
            <a:r>
              <a:rPr lang="en-US" dirty="0" err="1"/>
              <a:t>stdev</a:t>
            </a:r>
            <a:r>
              <a:rPr lang="en-US" dirty="0"/>
              <a:t> on training data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Apply normalization using those parameters to validation /train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7" grpId="0" animBg="1"/>
      <p:bldP spid="18" grpId="0"/>
      <p:bldP spid="19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9130-97F2-4390-A067-F5A29067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57CB71-27A8-4D18-9CB6-C4A8B7E9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features to use?</a:t>
            </a:r>
          </a:p>
          <a:p>
            <a:r>
              <a:rPr lang="en-US" dirty="0"/>
              <a:t>How many features to use?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Approaches:</a:t>
            </a:r>
          </a:p>
          <a:p>
            <a:pPr lvl="1"/>
            <a:r>
              <a:rPr lang="en-US" dirty="0"/>
              <a:t>Frequency</a:t>
            </a:r>
          </a:p>
          <a:p>
            <a:pPr lvl="1"/>
            <a:r>
              <a:rPr lang="en-US" dirty="0"/>
              <a:t>Mutual Information</a:t>
            </a:r>
          </a:p>
          <a:p>
            <a:pPr lvl="1"/>
            <a:r>
              <a:rPr lang="en-US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348738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7D9A-1F98-4577-BB02-61B5D32F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Selection: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0B428-987A-4D71-9FB7-B55B02BF3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Take top N most common features </a:t>
            </a:r>
            <a:r>
              <a:rPr lang="en-US" b="1" i="1" dirty="0"/>
              <a:t>in the training 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5BA89-A575-40F8-8A86-A0B686351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35669"/>
              </p:ext>
            </p:extLst>
          </p:nvPr>
        </p:nvGraphicFramePr>
        <p:xfrm>
          <a:off x="5123234" y="2839403"/>
          <a:ext cx="194553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766">
                  <a:extLst>
                    <a:ext uri="{9D8B030D-6E8A-4147-A177-3AD203B41FA5}">
                      <a16:colId xmlns:a16="http://schemas.microsoft.com/office/drawing/2014/main" val="151716090"/>
                    </a:ext>
                  </a:extLst>
                </a:gridCol>
                <a:gridCol w="972766">
                  <a:extLst>
                    <a:ext uri="{9D8B030D-6E8A-4147-A177-3AD203B41FA5}">
                      <a16:colId xmlns:a16="http://schemas.microsoft.com/office/drawing/2014/main" val="898993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6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82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21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254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9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77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8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7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89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0109-56B7-4C32-8990-9D303C854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3" y="171838"/>
            <a:ext cx="10515600" cy="634470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Selection: Mutual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9357F-652D-4463-9B4A-7ACEDFC94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62" y="716197"/>
            <a:ext cx="10515600" cy="634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Take N that contain most information about target </a:t>
            </a:r>
            <a:r>
              <a:rPr lang="en-US" sz="2400" b="1" i="1" dirty="0"/>
              <a:t>on the training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1542CB5-F44C-48C1-B159-18E1B097E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781156"/>
                  </p:ext>
                </p:extLst>
              </p:nvPr>
            </p:nvGraphicFramePr>
            <p:xfrm>
              <a:off x="3021639" y="3257328"/>
              <a:ext cx="1580097" cy="777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6699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526699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526699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165639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1656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1656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1542CB5-F44C-48C1-B159-18E1B097E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781156"/>
                  </p:ext>
                </p:extLst>
              </p:nvPr>
            </p:nvGraphicFramePr>
            <p:xfrm>
              <a:off x="3021639" y="3257328"/>
              <a:ext cx="1580097" cy="777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6699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526699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526699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326" t="-2326" r="-103488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326" r="-2299" b="-2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49" t="-104762" r="-201149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49" t="-200000" r="-201149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48FA3-1C75-4C4E-A15D-7441ECEBE068}"/>
                  </a:ext>
                </a:extLst>
              </p:cNvPr>
              <p:cNvSpPr txBox="1"/>
              <p:nvPr/>
            </p:nvSpPr>
            <p:spPr>
              <a:xfrm>
                <a:off x="149908" y="6175044"/>
                <a:ext cx="5001956" cy="504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Additive Smoothing to avoid 0s</a:t>
                </a: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  <m:r>
                      <a:rPr lang="en-US" b="1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𝑶𝒃𝒔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d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48FA3-1C75-4C4E-A15D-7441ECEBE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08" y="6175044"/>
                <a:ext cx="5001956" cy="504882"/>
              </a:xfrm>
              <a:prstGeom prst="rect">
                <a:avLst/>
              </a:prstGeom>
              <a:blipFill>
                <a:blip r:embed="rId4"/>
                <a:stretch>
                  <a:fillRect l="-1098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59DA25-658C-4961-A041-E1531401E3A8}"/>
                  </a:ext>
                </a:extLst>
              </p:cNvPr>
              <p:cNvSpPr/>
              <p:nvPr/>
            </p:nvSpPr>
            <p:spPr>
              <a:xfrm>
                <a:off x="3702440" y="1252739"/>
                <a:ext cx="4391843" cy="7990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𝑴𝑰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sub>
                            <m:sup/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59DA25-658C-4961-A041-E1531401E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440" y="1252739"/>
                <a:ext cx="4391843" cy="7990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9FD0B58-74A4-4875-A55F-8807D03C8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080801"/>
                  </p:ext>
                </p:extLst>
              </p:nvPr>
            </p:nvGraphicFramePr>
            <p:xfrm>
              <a:off x="640561" y="1974733"/>
              <a:ext cx="1298026" cy="3352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9013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649013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1322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7829612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2120769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52831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4588375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6582568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4886228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5909767"/>
                      </a:ext>
                    </a:extLst>
                  </a:tr>
                  <a:tr h="132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8899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9FD0B58-74A4-4875-A55F-8807D03C8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080801"/>
                  </p:ext>
                </p:extLst>
              </p:nvPr>
            </p:nvGraphicFramePr>
            <p:xfrm>
              <a:off x="640561" y="1974733"/>
              <a:ext cx="1298026" cy="3352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9013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649013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35" t="-2000" r="-101869" b="-10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935" t="-2000" r="-1869" b="-10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78296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21207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5283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458837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65825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488622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590976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8899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D68540A-27E2-409A-8E17-4D63E606A3F7}"/>
              </a:ext>
            </a:extLst>
          </p:cNvPr>
          <p:cNvSpPr txBox="1"/>
          <p:nvPr/>
        </p:nvSpPr>
        <p:spPr>
          <a:xfrm>
            <a:off x="581655" y="5328839"/>
            <a:ext cx="141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Training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51CC5-6790-4E23-82D0-2C847A26DF75}"/>
              </a:ext>
            </a:extLst>
          </p:cNvPr>
          <p:cNvSpPr txBox="1"/>
          <p:nvPr/>
        </p:nvSpPr>
        <p:spPr>
          <a:xfrm>
            <a:off x="3103768" y="3980926"/>
            <a:ext cx="1347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Contingency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Table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26F9BC-8B0D-4B5B-84C0-3DD98BC4B7F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650886" y="4148254"/>
            <a:ext cx="370753" cy="20267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CA59D5-849E-4106-A2A6-AC909707F0CF}"/>
                  </a:ext>
                </a:extLst>
              </p:cNvPr>
              <p:cNvSpPr/>
              <p:nvPr/>
            </p:nvSpPr>
            <p:spPr>
              <a:xfrm>
                <a:off x="6000906" y="2560255"/>
                <a:ext cx="2930033" cy="507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CA59D5-849E-4106-A2A6-AC909707F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906" y="2560255"/>
                <a:ext cx="2930033" cy="5073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ECA1578-B643-4483-B187-F18DE9F3484B}"/>
              </a:ext>
            </a:extLst>
          </p:cNvPr>
          <p:cNvSpPr txBox="1"/>
          <p:nvPr/>
        </p:nvSpPr>
        <p:spPr>
          <a:xfrm>
            <a:off x="6096000" y="3257328"/>
            <a:ext cx="411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 over all combinations: MI = 0.086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B6E730-B8E2-4FD9-A9F7-CBE0E464C42B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404624" y="2047951"/>
            <a:ext cx="691376" cy="139404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A79A273-104D-42D2-BA25-C2B138BE1811}"/>
              </a:ext>
            </a:extLst>
          </p:cNvPr>
          <p:cNvCxnSpPr>
            <a:cxnSpLocks/>
          </p:cNvCxnSpPr>
          <p:nvPr/>
        </p:nvCxnSpPr>
        <p:spPr>
          <a:xfrm>
            <a:off x="1983191" y="3075007"/>
            <a:ext cx="975598" cy="559087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52EB16B7-D52B-4D53-A27A-B17F6EEF49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55164"/>
                  </p:ext>
                </p:extLst>
              </p:nvPr>
            </p:nvGraphicFramePr>
            <p:xfrm>
              <a:off x="6477202" y="4234809"/>
              <a:ext cx="1753753" cy="8004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2845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610454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610454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235912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2706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2706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52EB16B7-D52B-4D53-A27A-B17F6EEF49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55164"/>
                  </p:ext>
                </p:extLst>
              </p:nvPr>
            </p:nvGraphicFramePr>
            <p:xfrm>
              <a:off x="6477202" y="4234809"/>
              <a:ext cx="1753753" cy="8004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2845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610454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610454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000" t="-2326" r="-103000" b="-21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87129" t="-2326" r="-1980" b="-218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2706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136" t="-100000" r="-230682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2706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136" t="-195556" r="-2306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C433C7F2-7BB4-46A3-82A6-567A45A4E8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704507"/>
                  </p:ext>
                </p:extLst>
              </p:nvPr>
            </p:nvGraphicFramePr>
            <p:xfrm>
              <a:off x="6477202" y="5171325"/>
              <a:ext cx="1749057" cy="7908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3019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583019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583019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263621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x=0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x=1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2636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2636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C433C7F2-7BB4-46A3-82A6-567A45A4E8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704507"/>
                  </p:ext>
                </p:extLst>
              </p:nvPr>
            </p:nvGraphicFramePr>
            <p:xfrm>
              <a:off x="6477202" y="5171325"/>
              <a:ext cx="1749057" cy="7908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3019">
                      <a:extLst>
                        <a:ext uri="{9D8B030D-6E8A-4147-A177-3AD203B41FA5}">
                          <a16:colId xmlns:a16="http://schemas.microsoft.com/office/drawing/2014/main" val="2502658902"/>
                        </a:ext>
                      </a:extLst>
                    </a:gridCol>
                    <a:gridCol w="583019">
                      <a:extLst>
                        <a:ext uri="{9D8B030D-6E8A-4147-A177-3AD203B41FA5}">
                          <a16:colId xmlns:a16="http://schemas.microsoft.com/office/drawing/2014/main" val="1375340040"/>
                        </a:ext>
                      </a:extLst>
                    </a:gridCol>
                    <a:gridCol w="583019">
                      <a:extLst>
                        <a:ext uri="{9D8B030D-6E8A-4147-A177-3AD203B41FA5}">
                          <a16:colId xmlns:a16="http://schemas.microsoft.com/office/drawing/2014/main" val="3937687127"/>
                        </a:ext>
                      </a:extLst>
                    </a:gridCol>
                  </a:tblGrid>
                  <a:tr h="263621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x=0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x=1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212550"/>
                      </a:ext>
                    </a:extLst>
                  </a:tr>
                  <a:tr h="263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42" t="-104651" r="-202083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987927"/>
                      </a:ext>
                    </a:extLst>
                  </a:tr>
                  <a:tr h="263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42" t="-200000" r="-202083" b="-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7632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2F5CB54-D471-48AF-975C-A7C25E84A926}"/>
              </a:ext>
            </a:extLst>
          </p:cNvPr>
          <p:cNvSpPr txBox="1"/>
          <p:nvPr/>
        </p:nvSpPr>
        <p:spPr>
          <a:xfrm>
            <a:off x="8226261" y="4450347"/>
            <a:ext cx="282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predictor </a:t>
            </a:r>
            <a:r>
              <a:rPr lang="en-US" dirty="0">
                <a:sym typeface="Wingdings" panose="05000000000000000000" pitchFamily="2" charset="2"/>
              </a:rPr>
              <a:t> high MI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86C313-5528-4E5A-997B-69257107DD7A}"/>
              </a:ext>
            </a:extLst>
          </p:cNvPr>
          <p:cNvSpPr txBox="1"/>
          <p:nvPr/>
        </p:nvSpPr>
        <p:spPr>
          <a:xfrm>
            <a:off x="8226260" y="5427751"/>
            <a:ext cx="282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Information </a:t>
            </a:r>
            <a:r>
              <a:rPr lang="en-US" dirty="0">
                <a:sym typeface="Wingdings" panose="05000000000000000000" pitchFamily="2" charset="2"/>
              </a:rPr>
              <a:t> 0 MI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48E1E00-C9B3-4D56-B10E-95765465BDC6}"/>
                  </a:ext>
                </a:extLst>
              </p:cNvPr>
              <p:cNvSpPr/>
              <p:nvPr/>
            </p:nvSpPr>
            <p:spPr>
              <a:xfrm>
                <a:off x="8766280" y="2561217"/>
                <a:ext cx="2243691" cy="507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 .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 ∗ .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𝟏𝟐𝟐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48E1E00-C9B3-4D56-B10E-95765465B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280" y="2561217"/>
                <a:ext cx="2243691" cy="5073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48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  <p:bldP spid="18" grpId="0"/>
      <p:bldP spid="27" grpId="0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38FB-3A62-4A02-BC30-B09E9B1C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Selection: Accuracy (wrapper)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1B9-A041-40D5-8D3B-9376195E3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Take N that improve accuracy most </a:t>
            </a:r>
            <a:r>
              <a:rPr lang="en-US" b="1" i="1" dirty="0"/>
              <a:t>on hold out 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Greedy search, adding or removing features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From baseline, try adding (removing) each candidate</a:t>
            </a:r>
          </a:p>
          <a:p>
            <a:pPr marL="457200" lvl="1" indent="0">
              <a:buNone/>
            </a:pPr>
            <a:r>
              <a:rPr lang="en-US" dirty="0"/>
              <a:t>Build a model</a:t>
            </a:r>
          </a:p>
          <a:p>
            <a:pPr marL="457200" lvl="1" indent="0">
              <a:buNone/>
            </a:pPr>
            <a:r>
              <a:rPr lang="en-US" dirty="0"/>
              <a:t>Evaluate </a:t>
            </a:r>
            <a:r>
              <a:rPr lang="en-US" b="1" i="1" dirty="0"/>
              <a:t>on hold out data</a:t>
            </a:r>
          </a:p>
          <a:p>
            <a:pPr marL="457200" lvl="1" indent="0">
              <a:buNone/>
            </a:pPr>
            <a:r>
              <a:rPr lang="en-US" dirty="0"/>
              <a:t>Add (remove) the best</a:t>
            </a:r>
          </a:p>
          <a:p>
            <a:pPr marL="457200" lvl="1" indent="0">
              <a:buNone/>
            </a:pPr>
            <a:r>
              <a:rPr lang="en-US" dirty="0"/>
              <a:t>Repeat till you get to N</a:t>
            </a:r>
          </a:p>
          <a:p>
            <a:pPr marL="0" indent="0">
              <a:buNone/>
            </a:pPr>
            <a:endParaRPr lang="en-US" b="1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5EDC14-8ED3-4710-A5FA-56265085E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389907"/>
              </p:ext>
            </p:extLst>
          </p:nvPr>
        </p:nvGraphicFramePr>
        <p:xfrm>
          <a:off x="9075905" y="3806704"/>
          <a:ext cx="245461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6282">
                  <a:extLst>
                    <a:ext uri="{9D8B030D-6E8A-4147-A177-3AD203B41FA5}">
                      <a16:colId xmlns:a16="http://schemas.microsoft.com/office/drawing/2014/main" val="151716090"/>
                    </a:ext>
                  </a:extLst>
                </a:gridCol>
                <a:gridCol w="1488332">
                  <a:extLst>
                    <a:ext uri="{9D8B030D-6E8A-4147-A177-3AD203B41FA5}">
                      <a16:colId xmlns:a16="http://schemas.microsoft.com/office/drawing/2014/main" val="898993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6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&lt;None&gt;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82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21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254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9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7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97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262E-DD1F-4133-B1C8-C85D97C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 about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8131-AD30-4BE3-8A55-9BF10CC3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use validation (or test) data when doing feature selection</a:t>
            </a:r>
          </a:p>
          <a:p>
            <a:endParaRPr lang="en-US" dirty="0"/>
          </a:p>
          <a:p>
            <a:r>
              <a:rPr lang="en-US" dirty="0"/>
              <a:t>Use train data only to select features</a:t>
            </a:r>
          </a:p>
          <a:p>
            <a:endParaRPr lang="en-US" dirty="0"/>
          </a:p>
          <a:p>
            <a:r>
              <a:rPr lang="en-US" dirty="0"/>
              <a:t>Then apply the selected features to the validation (or test) data</a:t>
            </a:r>
          </a:p>
        </p:txBody>
      </p:sp>
    </p:spTree>
    <p:extLst>
      <p:ext uri="{BB962C8B-B14F-4D97-AF65-F5344CB8AC3E}">
        <p14:creationId xmlns:p14="http://schemas.microsoft.com/office/powerpoint/2010/main" val="2883248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FD36-D18B-464C-8A40-772127F3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57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Feature Engineering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60790-CD5C-43BF-A15B-B79519E577FA}"/>
              </a:ext>
            </a:extLst>
          </p:cNvPr>
          <p:cNvSpPr/>
          <p:nvPr/>
        </p:nvSpPr>
        <p:spPr>
          <a:xfrm>
            <a:off x="566737" y="1394132"/>
            <a:ext cx="201930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TrainingContextX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01448-440F-40FC-A282-66D40E5F6E7A}"/>
              </a:ext>
            </a:extLst>
          </p:cNvPr>
          <p:cNvSpPr/>
          <p:nvPr/>
        </p:nvSpPr>
        <p:spPr>
          <a:xfrm>
            <a:off x="3600151" y="2207951"/>
            <a:ext cx="1104900" cy="63500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FeaturizeTraining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E85A4-1888-41E3-BD3F-20292514F928}"/>
              </a:ext>
            </a:extLst>
          </p:cNvPr>
          <p:cNvSpPr/>
          <p:nvPr/>
        </p:nvSpPr>
        <p:spPr>
          <a:xfrm>
            <a:off x="1481137" y="2799069"/>
            <a:ext cx="110490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TrainingY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BB21C13-F7FD-436F-A089-A28D866CDC3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6037" y="1617970"/>
            <a:ext cx="1014114" cy="90748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0FBC885-428A-4B95-9208-DB31AC6E5D1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2586037" y="2525451"/>
            <a:ext cx="1014114" cy="49745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F71183-6E8C-4DC8-A436-D71E6B629A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714750"/>
            <a:ext cx="230980" cy="15726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E4E6312-5090-48D1-9951-EFFEC98EBD09}"/>
              </a:ext>
            </a:extLst>
          </p:cNvPr>
          <p:cNvSpPr txBox="1"/>
          <p:nvPr/>
        </p:nvSpPr>
        <p:spPr>
          <a:xfrm>
            <a:off x="3924001" y="5354736"/>
            <a:ext cx="2419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Info needed to turn raw context into features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1EBF21-E173-4080-BCA0-9E283533AD15}"/>
              </a:ext>
            </a:extLst>
          </p:cNvPr>
          <p:cNvSpPr/>
          <p:nvPr/>
        </p:nvSpPr>
        <p:spPr>
          <a:xfrm>
            <a:off x="5976938" y="3022907"/>
            <a:ext cx="110490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Featurize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Data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C48309-71A2-41C3-A6C6-DE1D113E4F10}"/>
              </a:ext>
            </a:extLst>
          </p:cNvPr>
          <p:cNvCxnSpPr>
            <a:cxnSpLocks/>
          </p:cNvCxnSpPr>
          <p:nvPr/>
        </p:nvCxnSpPr>
        <p:spPr>
          <a:xfrm flipV="1">
            <a:off x="5410200" y="3611258"/>
            <a:ext cx="933450" cy="162057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F11D739-7955-47F9-BEAA-E46E9B52F4F3}"/>
              </a:ext>
            </a:extLst>
          </p:cNvPr>
          <p:cNvSpPr txBox="1"/>
          <p:nvPr/>
        </p:nvSpPr>
        <p:spPr>
          <a:xfrm>
            <a:off x="423862" y="5354736"/>
            <a:ext cx="2662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Raw data to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featurize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do feature selection with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4BD114-7C43-47C3-80B1-D71413EB5A81}"/>
              </a:ext>
            </a:extLst>
          </p:cNvPr>
          <p:cNvSpPr/>
          <p:nvPr/>
        </p:nvSpPr>
        <p:spPr>
          <a:xfrm>
            <a:off x="7972425" y="2251381"/>
            <a:ext cx="1104900" cy="54768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Featurize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Runtime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B6A79B-C80C-458A-9311-173E4603F8CB}"/>
              </a:ext>
            </a:extLst>
          </p:cNvPr>
          <p:cNvSpPr/>
          <p:nvPr/>
        </p:nvSpPr>
        <p:spPr>
          <a:xfrm>
            <a:off x="5048250" y="1394132"/>
            <a:ext cx="201930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runtimeContextX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A7CE6F1-2053-42DA-A5E2-83281FC36E49}"/>
              </a:ext>
            </a:extLst>
          </p:cNvPr>
          <p:cNvCxnSpPr>
            <a:cxnSpLocks/>
            <a:stCxn id="37" idx="3"/>
            <a:endCxn id="29" idx="1"/>
          </p:cNvCxnSpPr>
          <p:nvPr/>
        </p:nvCxnSpPr>
        <p:spPr>
          <a:xfrm>
            <a:off x="7067550" y="1617970"/>
            <a:ext cx="904875" cy="90725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48AE52EA-DB47-486A-87B0-8EEBD5A1A0F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705051" y="2525451"/>
            <a:ext cx="1271887" cy="7212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765D3E3-526D-4289-A88A-30BDE65841DD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 flipV="1">
            <a:off x="7081838" y="2525225"/>
            <a:ext cx="890587" cy="721520"/>
          </a:xfrm>
          <a:prstGeom prst="bentConnector3">
            <a:avLst>
              <a:gd name="adj1" fmla="val 48931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8036819-8C8B-4D43-AC50-CA337CC718FB}"/>
              </a:ext>
            </a:extLst>
          </p:cNvPr>
          <p:cNvSpPr/>
          <p:nvPr/>
        </p:nvSpPr>
        <p:spPr>
          <a:xfrm>
            <a:off x="9605963" y="2301387"/>
            <a:ext cx="167640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runtimeX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2BEED4-94B3-4493-B792-88FB6FE38A91}"/>
              </a:ext>
            </a:extLst>
          </p:cNvPr>
          <p:cNvSpPr/>
          <p:nvPr/>
        </p:nvSpPr>
        <p:spPr>
          <a:xfrm>
            <a:off x="423862" y="1133475"/>
            <a:ext cx="2271713" cy="247778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A23F803-AB6F-495D-85D9-A1B32E3525B7}"/>
              </a:ext>
            </a:extLst>
          </p:cNvPr>
          <p:cNvCxnSpPr>
            <a:cxnSpLocks/>
            <a:stCxn id="29" idx="3"/>
            <a:endCxn id="54" idx="1"/>
          </p:cNvCxnSpPr>
          <p:nvPr/>
        </p:nvCxnSpPr>
        <p:spPr>
          <a:xfrm>
            <a:off x="9077325" y="2525225"/>
            <a:ext cx="52863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90A839C-7670-4F72-A9B9-B97EA3542EBC}"/>
              </a:ext>
            </a:extLst>
          </p:cNvPr>
          <p:cNvSpPr txBox="1"/>
          <p:nvPr/>
        </p:nvSpPr>
        <p:spPr>
          <a:xfrm>
            <a:off x="8520411" y="968616"/>
            <a:ext cx="31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Input for machine learning model at runtime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0D12BB6-F0B4-4493-BC7A-5189FE1FB934}"/>
              </a:ext>
            </a:extLst>
          </p:cNvPr>
          <p:cNvCxnSpPr>
            <a:cxnSpLocks/>
          </p:cNvCxnSpPr>
          <p:nvPr/>
        </p:nvCxnSpPr>
        <p:spPr>
          <a:xfrm flipH="1" flipV="1">
            <a:off x="9858375" y="1614948"/>
            <a:ext cx="296170" cy="5930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0C2D94A-C1CB-4E67-91B3-58D6F5B41A70}"/>
              </a:ext>
            </a:extLst>
          </p:cNvPr>
          <p:cNvSpPr txBox="1"/>
          <p:nvPr/>
        </p:nvSpPr>
        <p:spPr>
          <a:xfrm>
            <a:off x="8062612" y="4339366"/>
            <a:ext cx="311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Selected words / n-grams and their feature indexes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5C072B0-8B08-4621-83E6-3F29ED499D61}"/>
              </a:ext>
            </a:extLst>
          </p:cNvPr>
          <p:cNvCxnSpPr>
            <a:cxnSpLocks/>
            <a:stCxn id="97" idx="1"/>
            <a:endCxn id="15" idx="3"/>
          </p:cNvCxnSpPr>
          <p:nvPr/>
        </p:nvCxnSpPr>
        <p:spPr>
          <a:xfrm flipH="1">
            <a:off x="6343650" y="4600976"/>
            <a:ext cx="1718962" cy="10769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B1A5BC3-40B4-4A28-AA0B-B867981CC329}"/>
              </a:ext>
            </a:extLst>
          </p:cNvPr>
          <p:cNvSpPr txBox="1"/>
          <p:nvPr/>
        </p:nvSpPr>
        <p:spPr>
          <a:xfrm>
            <a:off x="8062612" y="5188934"/>
            <a:ext cx="3114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TF-IDF weights to use for each word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ECA3558-356E-4FEC-81C5-02DF38371596}"/>
              </a:ext>
            </a:extLst>
          </p:cNvPr>
          <p:cNvCxnSpPr>
            <a:cxnSpLocks/>
            <a:stCxn id="104" idx="1"/>
            <a:endCxn id="15" idx="3"/>
          </p:cNvCxnSpPr>
          <p:nvPr/>
        </p:nvCxnSpPr>
        <p:spPr>
          <a:xfrm flipH="1">
            <a:off x="6343650" y="5342823"/>
            <a:ext cx="1718962" cy="335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2C011C9-2E8D-4482-90F6-E5CA4C598A92}"/>
              </a:ext>
            </a:extLst>
          </p:cNvPr>
          <p:cNvSpPr txBox="1"/>
          <p:nvPr/>
        </p:nvSpPr>
        <p:spPr>
          <a:xfrm>
            <a:off x="8062614" y="5870729"/>
            <a:ext cx="311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Normalize parameters for numeric features: means and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stdevs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74DB976-7DEF-4097-9D31-9A27D4C19B3D}"/>
              </a:ext>
            </a:extLst>
          </p:cNvPr>
          <p:cNvCxnSpPr>
            <a:cxnSpLocks/>
            <a:stCxn id="107" idx="1"/>
            <a:endCxn id="15" idx="3"/>
          </p:cNvCxnSpPr>
          <p:nvPr/>
        </p:nvCxnSpPr>
        <p:spPr>
          <a:xfrm flipH="1" flipV="1">
            <a:off x="6343650" y="5677902"/>
            <a:ext cx="1718964" cy="4544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90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23" grpId="0" animBg="1"/>
      <p:bldP spid="25" grpId="0"/>
      <p:bldP spid="29" grpId="0" animBg="1"/>
      <p:bldP spid="37" grpId="0" animBg="1"/>
      <p:bldP spid="54" grpId="0" animBg="1"/>
      <p:bldP spid="57" grpId="0" animBg="1"/>
      <p:bldP spid="75" grpId="0"/>
      <p:bldP spid="97" grpId="0"/>
      <p:bldP spid="104" grpId="0"/>
      <p:bldP spid="10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9B61-32B8-4CC3-A63B-2823BC6B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Feature Engineering Pattern: 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13EEA-BC91-4862-A165-76C4BF25310E}"/>
              </a:ext>
            </a:extLst>
          </p:cNvPr>
          <p:cNvSpPr txBox="1"/>
          <p:nvPr/>
        </p:nvSpPr>
        <p:spPr>
          <a:xfrm>
            <a:off x="1220244" y="1414562"/>
            <a:ext cx="10133556" cy="507831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 f in </a:t>
            </a:r>
            <a:r>
              <a:rPr lang="en-US" dirty="0" err="1"/>
              <a:t>featureSelectionMethodsToTry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trainX</a:t>
            </a:r>
            <a:r>
              <a:rPr lang="en-US" dirty="0"/>
              <a:t>, </a:t>
            </a:r>
            <a:r>
              <a:rPr lang="en-US" dirty="0" err="1"/>
              <a:t>trainY</a:t>
            </a:r>
            <a:r>
              <a:rPr lang="en-US" dirty="0"/>
              <a:t>, </a:t>
            </a:r>
            <a:r>
              <a:rPr lang="en-US" dirty="0" err="1"/>
              <a:t>featureData</a:t>
            </a:r>
            <a:r>
              <a:rPr lang="en-US" dirty="0"/>
              <a:t>) = </a:t>
            </a:r>
            <a:r>
              <a:rPr lang="en-US" dirty="0" err="1"/>
              <a:t>FeaturizeTraining</a:t>
            </a:r>
            <a:r>
              <a:rPr lang="en-US" dirty="0"/>
              <a:t>(</a:t>
            </a:r>
            <a:r>
              <a:rPr lang="en-US" dirty="0" err="1"/>
              <a:t>rawTrainX</a:t>
            </a:r>
            <a:r>
              <a:rPr lang="en-US" dirty="0"/>
              <a:t>, </a:t>
            </a:r>
            <a:r>
              <a:rPr lang="en-US" dirty="0" err="1"/>
              <a:t>rawTrainY</a:t>
            </a:r>
            <a:r>
              <a:rPr lang="en-US" dirty="0"/>
              <a:t>, f)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validationX</a:t>
            </a:r>
            <a:r>
              <a:rPr lang="en-US" dirty="0"/>
              <a:t>, </a:t>
            </a:r>
            <a:r>
              <a:rPr lang="en-US" dirty="0" err="1"/>
              <a:t>validationY</a:t>
            </a:r>
            <a:r>
              <a:rPr lang="en-US" dirty="0"/>
              <a:t>) = </a:t>
            </a:r>
            <a:r>
              <a:rPr lang="en-US" dirty="0" err="1"/>
              <a:t>FeaturizeRuntime</a:t>
            </a:r>
            <a:r>
              <a:rPr lang="en-US" dirty="0"/>
              <a:t>(</a:t>
            </a:r>
            <a:r>
              <a:rPr lang="en-US" dirty="0" err="1"/>
              <a:t>rawValidationX</a:t>
            </a:r>
            <a:r>
              <a:rPr lang="en-US" dirty="0"/>
              <a:t>, </a:t>
            </a:r>
            <a:r>
              <a:rPr lang="en-US" dirty="0" err="1"/>
              <a:t>rawValidationY</a:t>
            </a:r>
            <a:r>
              <a:rPr lang="en-US" dirty="0"/>
              <a:t>, f, </a:t>
            </a:r>
            <a:r>
              <a:rPr lang="en-US" dirty="0" err="1"/>
              <a:t>featureData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hp in </a:t>
            </a:r>
            <a:r>
              <a:rPr lang="en-US" dirty="0" err="1"/>
              <a:t>hyperParametersToTry</a:t>
            </a:r>
            <a:r>
              <a:rPr lang="en-US" dirty="0"/>
              <a:t>:</a:t>
            </a:r>
          </a:p>
          <a:p>
            <a:pPr lvl="1"/>
            <a:r>
              <a:rPr lang="fr-FR" dirty="0"/>
              <a:t>	</a:t>
            </a:r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trainX</a:t>
            </a:r>
            <a:r>
              <a:rPr lang="fr-FR" dirty="0"/>
              <a:t>, </a:t>
            </a:r>
            <a:r>
              <a:rPr lang="fr-FR" dirty="0" err="1"/>
              <a:t>trainY</a:t>
            </a:r>
            <a:r>
              <a:rPr lang="fr-FR" dirty="0"/>
              <a:t>, </a:t>
            </a:r>
            <a:r>
              <a:rPr lang="fr-FR" dirty="0" err="1"/>
              <a:t>hp</a:t>
            </a:r>
            <a:r>
              <a:rPr lang="fr-FR" dirty="0"/>
              <a:t>)</a:t>
            </a:r>
          </a:p>
          <a:p>
            <a:pPr lvl="1"/>
            <a:r>
              <a:rPr lang="en-US" dirty="0"/>
              <a:t>	accuracies[hp, f] = evaluate(</a:t>
            </a:r>
            <a:r>
              <a:rPr lang="en-US" dirty="0" err="1"/>
              <a:t>validationY</a:t>
            </a:r>
            <a:r>
              <a:rPr lang="en-US" dirty="0"/>
              <a:t>,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validationX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bestHyperParametersFound</a:t>
            </a:r>
            <a:r>
              <a:rPr lang="en-US" dirty="0"/>
              <a:t>, </a:t>
            </a:r>
            <a:r>
              <a:rPr lang="en-US" dirty="0" err="1"/>
              <a:t>bestFeaturizerFound</a:t>
            </a:r>
            <a:r>
              <a:rPr lang="en-US" dirty="0"/>
              <a:t>) = </a:t>
            </a:r>
            <a:r>
              <a:rPr lang="en-US" dirty="0" err="1"/>
              <a:t>bestSettingFound</a:t>
            </a:r>
            <a:r>
              <a:rPr lang="en-US" dirty="0"/>
              <a:t>(accuracies)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finalTrainX</a:t>
            </a:r>
            <a:r>
              <a:rPr lang="en-US" dirty="0"/>
              <a:t>, </a:t>
            </a:r>
            <a:r>
              <a:rPr lang="en-US" dirty="0" err="1"/>
              <a:t>finalTrainY</a:t>
            </a:r>
            <a:r>
              <a:rPr lang="en-US" dirty="0"/>
              <a:t>, </a:t>
            </a:r>
            <a:r>
              <a:rPr lang="en-US" dirty="0" err="1"/>
              <a:t>featureData</a:t>
            </a:r>
            <a:r>
              <a:rPr lang="en-US" dirty="0"/>
              <a:t>) = </a:t>
            </a:r>
          </a:p>
          <a:p>
            <a:r>
              <a:rPr lang="en-US" dirty="0"/>
              <a:t>	</a:t>
            </a:r>
            <a:r>
              <a:rPr lang="en-US" dirty="0" err="1"/>
              <a:t>FeaturizeTraining</a:t>
            </a:r>
            <a:r>
              <a:rPr lang="en-US" dirty="0"/>
              <a:t>(</a:t>
            </a:r>
            <a:r>
              <a:rPr lang="en-US" dirty="0" err="1"/>
              <a:t>rawTrainX</a:t>
            </a:r>
            <a:r>
              <a:rPr lang="en-US" dirty="0"/>
              <a:t> + </a:t>
            </a:r>
            <a:r>
              <a:rPr lang="en-US" dirty="0" err="1"/>
              <a:t>rawValidationX</a:t>
            </a:r>
            <a:r>
              <a:rPr lang="en-US" dirty="0"/>
              <a:t>, </a:t>
            </a:r>
            <a:r>
              <a:rPr lang="en-US" dirty="0" err="1"/>
              <a:t>rawTrainY</a:t>
            </a:r>
            <a:r>
              <a:rPr lang="en-US" dirty="0"/>
              <a:t> + </a:t>
            </a:r>
            <a:r>
              <a:rPr lang="en-US" dirty="0" err="1"/>
              <a:t>rawValidationY</a:t>
            </a:r>
            <a:r>
              <a:rPr lang="en-US" dirty="0"/>
              <a:t>, </a:t>
            </a:r>
            <a:r>
              <a:rPr lang="en-US" dirty="0" err="1"/>
              <a:t>bestFeaturizerFound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testX</a:t>
            </a:r>
            <a:r>
              <a:rPr lang="en-US" dirty="0"/>
              <a:t>, </a:t>
            </a:r>
            <a:r>
              <a:rPr lang="en-US" dirty="0" err="1"/>
              <a:t>testY</a:t>
            </a:r>
            <a:r>
              <a:rPr lang="en-US" dirty="0"/>
              <a:t>) = </a:t>
            </a:r>
            <a:r>
              <a:rPr lang="en-US" dirty="0" err="1"/>
              <a:t>FeaturizeRuntime</a:t>
            </a:r>
            <a:r>
              <a:rPr lang="en-US" dirty="0"/>
              <a:t>(</a:t>
            </a:r>
            <a:r>
              <a:rPr lang="en-US" dirty="0" err="1"/>
              <a:t>rawTextX</a:t>
            </a:r>
            <a:r>
              <a:rPr lang="en-US" dirty="0"/>
              <a:t>, </a:t>
            </a:r>
            <a:r>
              <a:rPr lang="en-US" dirty="0" err="1"/>
              <a:t>rawTestY</a:t>
            </a:r>
            <a:r>
              <a:rPr lang="en-US" dirty="0"/>
              <a:t>, </a:t>
            </a:r>
            <a:r>
              <a:rPr lang="en-US" dirty="0" err="1"/>
              <a:t>bestFeaturizerFound</a:t>
            </a:r>
            <a:r>
              <a:rPr lang="en-US" dirty="0"/>
              <a:t>, </a:t>
            </a:r>
            <a:r>
              <a:rPr lang="en-US" dirty="0" err="1"/>
              <a:t>featureData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finalModel.fit</a:t>
            </a:r>
            <a:r>
              <a:rPr lang="en-US" dirty="0"/>
              <a:t>(</a:t>
            </a:r>
            <a:r>
              <a:rPr lang="en-US" dirty="0" err="1"/>
              <a:t>finalTrainX</a:t>
            </a:r>
            <a:r>
              <a:rPr lang="en-US" dirty="0"/>
              <a:t>, </a:t>
            </a:r>
            <a:r>
              <a:rPr lang="en-US" dirty="0" err="1"/>
              <a:t>finalTrainY</a:t>
            </a:r>
            <a:r>
              <a:rPr lang="en-US" dirty="0"/>
              <a:t>, </a:t>
            </a:r>
            <a:r>
              <a:rPr lang="en-US" dirty="0" err="1"/>
              <a:t>bestHyperParametersFound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estimateOfGeneralizationPerformance</a:t>
            </a:r>
            <a:r>
              <a:rPr lang="en-US" dirty="0"/>
              <a:t> = evaluate(</a:t>
            </a:r>
            <a:r>
              <a:rPr lang="en-US" dirty="0" err="1"/>
              <a:t>testY</a:t>
            </a:r>
            <a:r>
              <a:rPr lang="en-US" dirty="0"/>
              <a:t>,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testX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400674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91A1-D100-47FF-AAB5-01C315259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E396-CD98-4E0E-820F-76A80ACD2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Noise in the data</a:t>
            </a:r>
          </a:p>
          <a:p>
            <a:pPr lvl="1"/>
            <a:r>
              <a:rPr lang="en-US" dirty="0"/>
              <a:t>Encodings</a:t>
            </a:r>
          </a:p>
          <a:p>
            <a:pPr lvl="1"/>
            <a:r>
              <a:rPr lang="en-US" dirty="0"/>
              <a:t>Bugs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Corruption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Noise in the labels</a:t>
            </a:r>
          </a:p>
          <a:p>
            <a:pPr marL="457200" lvl="1" indent="0">
              <a:buNone/>
            </a:pPr>
            <a:r>
              <a:rPr lang="en-US" sz="1800" b="1" i="1" dirty="0"/>
              <a:t>Ham:</a:t>
            </a:r>
            <a:r>
              <a:rPr lang="en-US" sz="1800" dirty="0"/>
              <a:t> As per your request '</a:t>
            </a:r>
            <a:r>
              <a:rPr lang="en-US" sz="1800" dirty="0" err="1"/>
              <a:t>Melle</a:t>
            </a:r>
            <a:r>
              <a:rPr lang="en-US" sz="1800" dirty="0"/>
              <a:t> </a:t>
            </a:r>
            <a:r>
              <a:rPr lang="en-US" sz="1800" dirty="0" err="1"/>
              <a:t>Melle</a:t>
            </a:r>
            <a:r>
              <a:rPr lang="en-US" sz="1800" dirty="0"/>
              <a:t> (</a:t>
            </a:r>
            <a:r>
              <a:rPr lang="en-US" sz="1800" dirty="0" err="1"/>
              <a:t>Oru</a:t>
            </a:r>
            <a:r>
              <a:rPr lang="en-US" sz="1800" dirty="0"/>
              <a:t> </a:t>
            </a:r>
            <a:r>
              <a:rPr lang="en-US" sz="1800" dirty="0" err="1"/>
              <a:t>Minnaminunginte</a:t>
            </a:r>
            <a:r>
              <a:rPr lang="en-US" sz="1800" dirty="0"/>
              <a:t> </a:t>
            </a:r>
            <a:r>
              <a:rPr lang="en-US" sz="1800" dirty="0" err="1"/>
              <a:t>Nurungu</a:t>
            </a:r>
            <a:r>
              <a:rPr lang="en-US" sz="1800" dirty="0"/>
              <a:t> </a:t>
            </a:r>
            <a:r>
              <a:rPr lang="en-US" sz="1800" dirty="0" err="1"/>
              <a:t>Vettam</a:t>
            </a:r>
            <a:r>
              <a:rPr lang="en-US" sz="1800" dirty="0"/>
              <a:t>)' has been set as your </a:t>
            </a:r>
            <a:r>
              <a:rPr lang="en-US" sz="1800" dirty="0" err="1"/>
              <a:t>callertune</a:t>
            </a:r>
            <a:r>
              <a:rPr lang="en-US" sz="1800" dirty="0"/>
              <a:t> for all Callers. Press *9 to copy your friends </a:t>
            </a:r>
            <a:r>
              <a:rPr lang="en-US" sz="1800" dirty="0" err="1"/>
              <a:t>Callertune</a:t>
            </a:r>
            <a:endParaRPr lang="en-US" sz="18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1700" b="1" i="1" dirty="0"/>
              <a:t>Spam:</a:t>
            </a:r>
            <a:r>
              <a:rPr lang="en-US" sz="1700" dirty="0"/>
              <a:t> I’ll meet you at the </a:t>
            </a:r>
            <a:r>
              <a:rPr lang="en-US" sz="1700" dirty="0" err="1"/>
              <a:t>resturant</a:t>
            </a:r>
            <a:r>
              <a:rPr lang="en-US" sz="1700" dirty="0"/>
              <a:t> between 10 &amp; 10:30 – can’t wait!</a:t>
            </a:r>
          </a:p>
          <a:p>
            <a:endParaRPr lang="en-US" dirty="0"/>
          </a:p>
          <a:p>
            <a:r>
              <a:rPr lang="en-US" dirty="0"/>
              <a:t>Model being wrong…</a:t>
            </a:r>
          </a:p>
          <a:p>
            <a:pPr lvl="1"/>
            <a:r>
              <a:rPr lang="en-US" dirty="0"/>
              <a:t>Reason?</a:t>
            </a:r>
          </a:p>
        </p:txBody>
      </p:sp>
    </p:spTree>
    <p:extLst>
      <p:ext uri="{BB962C8B-B14F-4D97-AF65-F5344CB8AC3E}">
        <p14:creationId xmlns:p14="http://schemas.microsoft.com/office/powerpoint/2010/main" val="300918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78E1-C1D2-487C-9E9A-16B17634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2E4C5-942B-45AB-8619-0F1D7403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Examine N </a:t>
            </a:r>
            <a:r>
              <a:rPr lang="en-US" i="1" dirty="0"/>
              <a:t>random</a:t>
            </a:r>
            <a:r>
              <a:rPr lang="en-US" dirty="0"/>
              <a:t> false positive and N </a:t>
            </a:r>
            <a:r>
              <a:rPr lang="en-US" i="1" dirty="0"/>
              <a:t>random</a:t>
            </a:r>
            <a:r>
              <a:rPr lang="en-US" dirty="0"/>
              <a:t> false negatives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Examine N </a:t>
            </a:r>
            <a:r>
              <a:rPr lang="en-US" i="1" dirty="0"/>
              <a:t>worst</a:t>
            </a:r>
            <a:r>
              <a:rPr lang="en-US" dirty="0"/>
              <a:t> false positives and N </a:t>
            </a:r>
            <a:r>
              <a:rPr lang="en-US" i="1" dirty="0"/>
              <a:t>worst</a:t>
            </a:r>
            <a:r>
              <a:rPr lang="en-US" dirty="0"/>
              <a:t> false negatives</a:t>
            </a:r>
          </a:p>
          <a:p>
            <a:pPr lvl="1"/>
            <a:r>
              <a:rPr lang="en-US" dirty="0"/>
              <a:t>Model predicts very near 1, but true answer is 0</a:t>
            </a:r>
          </a:p>
          <a:p>
            <a:pPr lvl="1"/>
            <a:r>
              <a:rPr lang="en-US" dirty="0"/>
              <a:t>Model predicts very near 0, but true answer is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29F130-9F3F-4E9A-BDD9-72450DC81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29078"/>
              </p:ext>
            </p:extLst>
          </p:nvPr>
        </p:nvGraphicFramePr>
        <p:xfrm>
          <a:off x="4795252" y="2387099"/>
          <a:ext cx="260149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48">
                  <a:extLst>
                    <a:ext uri="{9D8B030D-6E8A-4147-A177-3AD203B41FA5}">
                      <a16:colId xmlns:a16="http://schemas.microsoft.com/office/drawing/2014/main" val="1989380092"/>
                    </a:ext>
                  </a:extLst>
                </a:gridCol>
                <a:gridCol w="1300748">
                  <a:extLst>
                    <a:ext uri="{9D8B030D-6E8A-4147-A177-3AD203B41FA5}">
                      <a16:colId xmlns:a16="http://schemas.microsoft.com/office/drawing/2014/main" val="3852533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31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Label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77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8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76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9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6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527D-573F-4F78-835F-4513B6B5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A54F-DD77-4F6E-B5D7-60C4248C0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Start with ‘standard’ for your domain; 1 parameter per ~10 samples</a:t>
            </a:r>
          </a:p>
          <a:p>
            <a:endParaRPr lang="en-US" dirty="0"/>
          </a:p>
          <a:p>
            <a:r>
              <a:rPr lang="en-US" dirty="0"/>
              <a:t>Try all the important variations </a:t>
            </a:r>
            <a:r>
              <a:rPr lang="en-US" b="1" i="1" dirty="0"/>
              <a:t>on hold out data</a:t>
            </a:r>
          </a:p>
          <a:p>
            <a:pPr lvl="1"/>
            <a:r>
              <a:rPr lang="en-US" dirty="0"/>
              <a:t>Tokenizing</a:t>
            </a:r>
          </a:p>
          <a:p>
            <a:pPr lvl="1"/>
            <a:r>
              <a:rPr lang="en-US" dirty="0"/>
              <a:t>Bag of words</a:t>
            </a:r>
          </a:p>
          <a:p>
            <a:pPr lvl="1"/>
            <a:r>
              <a:rPr lang="en-US" dirty="0"/>
              <a:t>N-grams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Use some form of feature selection to find the best, evaluate</a:t>
            </a:r>
          </a:p>
          <a:p>
            <a:endParaRPr lang="en-US" dirty="0"/>
          </a:p>
          <a:p>
            <a:r>
              <a:rPr lang="en-US" dirty="0"/>
              <a:t>Look at your mistakes…</a:t>
            </a:r>
          </a:p>
          <a:p>
            <a:endParaRPr lang="en-US" dirty="0"/>
          </a:p>
          <a:p>
            <a:r>
              <a:rPr lang="en-US" dirty="0"/>
              <a:t>Use your intuition about your domain and adapt standard approaches or invent new features…</a:t>
            </a:r>
          </a:p>
          <a:p>
            <a:endParaRPr lang="en-US" dirty="0"/>
          </a:p>
          <a:p>
            <a:r>
              <a:rPr lang="en-US" dirty="0"/>
              <a:t>Iterate</a:t>
            </a:r>
          </a:p>
          <a:p>
            <a:endParaRPr lang="en-US" dirty="0"/>
          </a:p>
          <a:p>
            <a:r>
              <a:rPr lang="en-US" dirty="0"/>
              <a:t>When you want to know how well you did, evaluate on test data</a:t>
            </a:r>
          </a:p>
        </p:txBody>
      </p:sp>
    </p:spTree>
    <p:extLst>
      <p:ext uri="{BB962C8B-B14F-4D97-AF65-F5344CB8AC3E}">
        <p14:creationId xmlns:p14="http://schemas.microsoft.com/office/powerpoint/2010/main" val="227888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5F97-77CF-4207-84D4-B84EECD3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in Other Domains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F4739-5023-4B03-B2CB-8CCD4BADF6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Computer Vision</a:t>
            </a:r>
            <a:r>
              <a:rPr lang="en-US" dirty="0"/>
              <a:t>:</a:t>
            </a:r>
          </a:p>
          <a:p>
            <a:r>
              <a:rPr lang="en-US" dirty="0"/>
              <a:t>Gradients</a:t>
            </a:r>
          </a:p>
          <a:p>
            <a:r>
              <a:rPr lang="en-US" dirty="0"/>
              <a:t>Histograms</a:t>
            </a:r>
          </a:p>
          <a:p>
            <a:r>
              <a:rPr lang="en-US" dirty="0"/>
              <a:t>Convolutions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Time Series</a:t>
            </a:r>
            <a:r>
              <a:rPr lang="en-US" dirty="0"/>
              <a:t>:</a:t>
            </a:r>
          </a:p>
          <a:p>
            <a:r>
              <a:rPr lang="en-US" dirty="0"/>
              <a:t>Window aggregated statistics</a:t>
            </a:r>
          </a:p>
          <a:p>
            <a:r>
              <a:rPr lang="en-US" dirty="0"/>
              <a:t>Frequency domain transformations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6420B-505E-44D8-9AC4-7E1E5AFD1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Internet</a:t>
            </a:r>
            <a:r>
              <a:rPr lang="en-US" dirty="0"/>
              <a:t>:</a:t>
            </a:r>
          </a:p>
          <a:p>
            <a:r>
              <a:rPr lang="en-US" dirty="0"/>
              <a:t>IP Parts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Reputation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Neural Networks</a:t>
            </a:r>
            <a:r>
              <a:rPr lang="en-US" dirty="0"/>
              <a:t>:</a:t>
            </a:r>
          </a:p>
          <a:p>
            <a:r>
              <a:rPr lang="en-US" dirty="0"/>
              <a:t>A whole bunch of other things we’ll talk about later…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4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2B8D-14F8-4897-905B-F3C585EC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C490D-092C-44C9-908F-757A564DD0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Feature engineering converts raw context into inputs for machine learning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Goals are:</a:t>
            </a:r>
          </a:p>
          <a:p>
            <a:pPr lvl="1"/>
            <a:r>
              <a:rPr lang="en-US" dirty="0"/>
              <a:t>Match structure of concept to structure of model representation</a:t>
            </a:r>
          </a:p>
          <a:p>
            <a:pPr lvl="1"/>
            <a:r>
              <a:rPr lang="en-US" dirty="0"/>
              <a:t>Balance number of feature, amount of data, complexity of concept, power of model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43645-03BC-407B-BD39-884490A7E1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domain has a library of proven feature engineering approaches</a:t>
            </a:r>
          </a:p>
          <a:p>
            <a:endParaRPr lang="en-US" dirty="0"/>
          </a:p>
          <a:p>
            <a:r>
              <a:rPr lang="en-US" dirty="0"/>
              <a:t>Text’s include: normalization, tokenizing, n-grams, TF-IDF,  embeddings, &amp; NLP</a:t>
            </a:r>
          </a:p>
          <a:p>
            <a:endParaRPr lang="en-US" dirty="0"/>
          </a:p>
          <a:p>
            <a:r>
              <a:rPr lang="en-US" dirty="0"/>
              <a:t>Feature selection removes less useful features and can greatly increase accuracy</a:t>
            </a:r>
          </a:p>
        </p:txBody>
      </p:sp>
    </p:spTree>
    <p:extLst>
      <p:ext uri="{BB962C8B-B14F-4D97-AF65-F5344CB8AC3E}">
        <p14:creationId xmlns:p14="http://schemas.microsoft.com/office/powerpoint/2010/main" val="362572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3774</TotalTime>
  <Words>2327</Words>
  <Application>Microsoft Office PowerPoint</Application>
  <PresentationFormat>Widescreen</PresentationFormat>
  <Paragraphs>754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Wingdings</vt:lpstr>
      <vt:lpstr>Office Theme</vt:lpstr>
      <vt:lpstr>Feature Engineering</vt:lpstr>
      <vt:lpstr>Overview</vt:lpstr>
      <vt:lpstr>Goals of Feature Engineering</vt:lpstr>
      <vt:lpstr>Sample from SMS Spam</vt:lpstr>
      <vt:lpstr>Basic Feature Types</vt:lpstr>
      <vt:lpstr>Converting Between Feature Types</vt:lpstr>
      <vt:lpstr>Sources of Data for Features</vt:lpstr>
      <vt:lpstr>Feature Engineering for Text</vt:lpstr>
      <vt:lpstr>Tokenizing</vt:lpstr>
      <vt:lpstr>Bag of Words</vt:lpstr>
      <vt:lpstr>Bag of Words: Example</vt:lpstr>
      <vt:lpstr>N-Grams: Tokens</vt:lpstr>
      <vt:lpstr>N-Grams: Characters</vt:lpstr>
      <vt:lpstr>TF-IDF Term Frequency – Inverse Document Frequency</vt:lpstr>
      <vt:lpstr>Embeddings -- Word2Vec and FastText</vt:lpstr>
      <vt:lpstr>Normalization (Numeric =&gt; Better Numeric)</vt:lpstr>
      <vt:lpstr>Feature Selection</vt:lpstr>
      <vt:lpstr>Feature Selection: Frequency</vt:lpstr>
      <vt:lpstr>Feature Selection: Mutual Information</vt:lpstr>
      <vt:lpstr>Feature Selection: Accuracy (wrapper)</vt:lpstr>
      <vt:lpstr>Important note about feature selection</vt:lpstr>
      <vt:lpstr>Simple Feature Engineering Pattern</vt:lpstr>
      <vt:lpstr>Simple Feature Engineering Pattern: Pseudocode</vt:lpstr>
      <vt:lpstr>Understanding Mistakes</vt:lpstr>
      <vt:lpstr>Exploring Mistakes</vt:lpstr>
      <vt:lpstr>Approach to Feature Engineering</vt:lpstr>
      <vt:lpstr>Feature Engineering in Other Domains</vt:lpstr>
      <vt:lpstr>Summary of Feature Engineering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Engineering</dc:title>
  <dc:creator>Geoff Hulten</dc:creator>
  <cp:lastModifiedBy>Faheem Shaukat</cp:lastModifiedBy>
  <cp:revision>101</cp:revision>
  <dcterms:created xsi:type="dcterms:W3CDTF">2018-09-27T01:57:58Z</dcterms:created>
  <dcterms:modified xsi:type="dcterms:W3CDTF">2025-11-24T11:40:30Z</dcterms:modified>
</cp:coreProperties>
</file>